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147482336" r:id="rId2"/>
    <p:sldId id="2147482317" r:id="rId3"/>
    <p:sldId id="2147482318" r:id="rId4"/>
    <p:sldId id="2147482376" r:id="rId5"/>
    <p:sldId id="2147482380" r:id="rId6"/>
    <p:sldId id="2147482379" r:id="rId7"/>
    <p:sldId id="2147482324" r:id="rId8"/>
    <p:sldId id="214748238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3E7AFE"/>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31"/>
    <p:restoredTop sz="93447" autoAdjust="0"/>
  </p:normalViewPr>
  <p:slideViewPr>
    <p:cSldViewPr snapToGrid="0">
      <p:cViewPr varScale="1">
        <p:scale>
          <a:sx n="102" d="100"/>
          <a:sy n="102" d="100"/>
        </p:scale>
        <p:origin x="1374" y="31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B7D4C-E8EA-1C45-AB89-380B3AE28B76}" type="datetimeFigureOut">
              <a:rPr lang="en-US" smtClean="0"/>
              <a:t>4/30/2025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363537-4D63-5C45-A88E-7475A4D7DCAC}" type="slidenum">
              <a:rPr lang="en-US" smtClean="0"/>
              <a:t>‹#›</a:t>
            </a:fld>
            <a:endParaRPr lang="en-US"/>
          </a:p>
        </p:txBody>
      </p:sp>
    </p:spTree>
    <p:extLst>
      <p:ext uri="{BB962C8B-B14F-4D97-AF65-F5344CB8AC3E}">
        <p14:creationId xmlns:p14="http://schemas.microsoft.com/office/powerpoint/2010/main" val="1140314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effectLst/>
              <a:latin typeface="+mn-lt"/>
            </a:endParaRPr>
          </a:p>
          <a:p>
            <a:endParaRPr lang="en-US" dirty="0"/>
          </a:p>
        </p:txBody>
      </p:sp>
      <p:sp>
        <p:nvSpPr>
          <p:cNvPr id="4" name="Slide Number Placeholder 3"/>
          <p:cNvSpPr>
            <a:spLocks noGrp="1"/>
          </p:cNvSpPr>
          <p:nvPr>
            <p:ph type="sldNum" sz="quarter" idx="5"/>
          </p:nvPr>
        </p:nvSpPr>
        <p:spPr/>
        <p:txBody>
          <a:bodyPr/>
          <a:lstStyle/>
          <a:p>
            <a:fld id="{80363537-4D63-5C45-A88E-7475A4D7DCAC}" type="slidenum">
              <a:rPr lang="en-US" smtClean="0"/>
              <a:t>1</a:t>
            </a:fld>
            <a:endParaRPr lang="en-US"/>
          </a:p>
        </p:txBody>
      </p:sp>
    </p:spTree>
    <p:extLst>
      <p:ext uri="{BB962C8B-B14F-4D97-AF65-F5344CB8AC3E}">
        <p14:creationId xmlns:p14="http://schemas.microsoft.com/office/powerpoint/2010/main" val="3720870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63537-4D63-5C45-A88E-7475A4D7DCAC}" type="slidenum">
              <a:rPr lang="en-US" smtClean="0"/>
              <a:t>2</a:t>
            </a:fld>
            <a:endParaRPr lang="en-US"/>
          </a:p>
        </p:txBody>
      </p:sp>
    </p:spTree>
    <p:extLst>
      <p:ext uri="{BB962C8B-B14F-4D97-AF65-F5344CB8AC3E}">
        <p14:creationId xmlns:p14="http://schemas.microsoft.com/office/powerpoint/2010/main" val="3299746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63537-4D63-5C45-A88E-7475A4D7DCAC}" type="slidenum">
              <a:rPr lang="en-US" smtClean="0"/>
              <a:t>3</a:t>
            </a:fld>
            <a:endParaRPr lang="en-US"/>
          </a:p>
        </p:txBody>
      </p:sp>
    </p:spTree>
    <p:extLst>
      <p:ext uri="{BB962C8B-B14F-4D97-AF65-F5344CB8AC3E}">
        <p14:creationId xmlns:p14="http://schemas.microsoft.com/office/powerpoint/2010/main" val="2269346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0363537-4D63-5C45-A88E-7475A4D7DCAC}" type="slidenum">
              <a:rPr lang="en-US" smtClean="0"/>
              <a:t>7</a:t>
            </a:fld>
            <a:endParaRPr lang="en-US"/>
          </a:p>
        </p:txBody>
      </p:sp>
    </p:spTree>
    <p:extLst>
      <p:ext uri="{BB962C8B-B14F-4D97-AF65-F5344CB8AC3E}">
        <p14:creationId xmlns:p14="http://schemas.microsoft.com/office/powerpoint/2010/main" val="900250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E8BCB-7B7A-D41D-3BED-0915EEAB1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08F53-2C1F-5843-8303-6BA183D18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7E1D6-4EDB-9E09-731A-E43F71132D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794B2C3-BBC8-C1F8-7434-31B5BDDBBDC1}"/>
              </a:ext>
            </a:extLst>
          </p:cNvPr>
          <p:cNvSpPr>
            <a:spLocks noGrp="1"/>
          </p:cNvSpPr>
          <p:nvPr>
            <p:ph type="sldNum" sz="quarter" idx="5"/>
          </p:nvPr>
        </p:nvSpPr>
        <p:spPr/>
        <p:txBody>
          <a:bodyPr/>
          <a:lstStyle/>
          <a:p>
            <a:fld id="{80363537-4D63-5C45-A88E-7475A4D7DCAC}" type="slidenum">
              <a:rPr lang="en-US" smtClean="0"/>
              <a:t>8</a:t>
            </a:fld>
            <a:endParaRPr lang="en-US"/>
          </a:p>
        </p:txBody>
      </p:sp>
    </p:spTree>
    <p:extLst>
      <p:ext uri="{BB962C8B-B14F-4D97-AF65-F5344CB8AC3E}">
        <p14:creationId xmlns:p14="http://schemas.microsoft.com/office/powerpoint/2010/main" val="714702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A005A-9727-1F06-7A0D-E7142798912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952DAE5-0049-6E83-07EE-C25DF69A9A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47EC5B7-3497-7DD3-50EF-7FAC8791F4A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9B2E694-D6B6-8E33-062F-8F6DE6DC2353}"/>
              </a:ext>
            </a:extLst>
          </p:cNvPr>
          <p:cNvSpPr>
            <a:spLocks noGrp="1"/>
          </p:cNvSpPr>
          <p:nvPr>
            <p:ph type="ftr" sz="quarter" idx="11"/>
          </p:nvPr>
        </p:nvSpPr>
        <p:spPr/>
        <p:txBody>
          <a:bodyPr/>
          <a:lstStyle/>
          <a:p>
            <a:r>
              <a:rPr lang="en-US"/>
              <a:t>IBM Consulting / © 2021 IBM Corporation</a:t>
            </a:r>
          </a:p>
        </p:txBody>
      </p:sp>
      <p:sp>
        <p:nvSpPr>
          <p:cNvPr id="6" name="Slide Number Placeholder 5">
            <a:extLst>
              <a:ext uri="{FF2B5EF4-FFF2-40B4-BE49-F238E27FC236}">
                <a16:creationId xmlns:a16="http://schemas.microsoft.com/office/drawing/2014/main" id="{D425B2C2-4F86-FB6B-9E91-FBA8DE90661B}"/>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371474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A488B-D6C1-A4D7-75E0-A637E74DB65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163065-1907-FF14-A370-EBED6FD3F4C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A5DDAF-B6C4-AECD-56ED-916074A0D18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FDB8BBA-F98B-BCE9-A0A1-61B1103BA723}"/>
              </a:ext>
            </a:extLst>
          </p:cNvPr>
          <p:cNvSpPr>
            <a:spLocks noGrp="1"/>
          </p:cNvSpPr>
          <p:nvPr>
            <p:ph type="ftr" sz="quarter" idx="11"/>
          </p:nvPr>
        </p:nvSpPr>
        <p:spPr/>
        <p:txBody>
          <a:bodyPr/>
          <a:lstStyle/>
          <a:p>
            <a:r>
              <a:rPr lang="en-US"/>
              <a:t>IBM Consulting / © 2021 IBM Corporation</a:t>
            </a:r>
          </a:p>
        </p:txBody>
      </p:sp>
      <p:sp>
        <p:nvSpPr>
          <p:cNvPr id="6" name="Slide Number Placeholder 5">
            <a:extLst>
              <a:ext uri="{FF2B5EF4-FFF2-40B4-BE49-F238E27FC236}">
                <a16:creationId xmlns:a16="http://schemas.microsoft.com/office/drawing/2014/main" id="{C58DD251-7CFD-6AF4-717A-5B07B8182374}"/>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295057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B6541-204F-BE5D-BF42-B2518B328CC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581556-B94D-04B2-83D6-88FC6AE124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43529BF-84F5-54D3-89C6-B91DD5779BF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2D279BF-D58D-DA08-2878-E199E5A580BB}"/>
              </a:ext>
            </a:extLst>
          </p:cNvPr>
          <p:cNvSpPr>
            <a:spLocks noGrp="1"/>
          </p:cNvSpPr>
          <p:nvPr>
            <p:ph type="ftr" sz="quarter" idx="11"/>
          </p:nvPr>
        </p:nvSpPr>
        <p:spPr/>
        <p:txBody>
          <a:bodyPr/>
          <a:lstStyle/>
          <a:p>
            <a:r>
              <a:rPr lang="en-US"/>
              <a:t>IBM Consulting / © 2021 IBM Corporation</a:t>
            </a:r>
          </a:p>
        </p:txBody>
      </p:sp>
      <p:sp>
        <p:nvSpPr>
          <p:cNvPr id="6" name="Slide Number Placeholder 5">
            <a:extLst>
              <a:ext uri="{FF2B5EF4-FFF2-40B4-BE49-F238E27FC236}">
                <a16:creationId xmlns:a16="http://schemas.microsoft.com/office/drawing/2014/main" id="{682E3A3D-D908-7144-8875-4BA46A41A87C}"/>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2482052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5F4E1-4D15-A9C7-E41B-D111D8D9B3E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DD4A618-DC75-5B0E-D6CA-5162B32ABCC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7740458-3D4D-A665-02CD-FB570FB964B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1857412-E9B6-F2E8-FF8A-0DE018ED6F3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33AC9A7-8BE6-52EC-A019-ACED62CBFA82}"/>
              </a:ext>
            </a:extLst>
          </p:cNvPr>
          <p:cNvSpPr>
            <a:spLocks noGrp="1"/>
          </p:cNvSpPr>
          <p:nvPr>
            <p:ph type="ftr" sz="quarter" idx="11"/>
          </p:nvPr>
        </p:nvSpPr>
        <p:spPr/>
        <p:txBody>
          <a:bodyPr/>
          <a:lstStyle/>
          <a:p>
            <a:r>
              <a:rPr lang="en-US"/>
              <a:t>IBM Consulting / © 2021 IBM Corporation</a:t>
            </a:r>
          </a:p>
        </p:txBody>
      </p:sp>
      <p:sp>
        <p:nvSpPr>
          <p:cNvPr id="7" name="Slide Number Placeholder 6">
            <a:extLst>
              <a:ext uri="{FF2B5EF4-FFF2-40B4-BE49-F238E27FC236}">
                <a16:creationId xmlns:a16="http://schemas.microsoft.com/office/drawing/2014/main" id="{0684253A-D050-6BE0-9F19-AF4DA3D38FC2}"/>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85585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4B7BC-980A-CDCD-6E9B-BB54B49637C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0806C32-14F0-786C-8CA4-6AC3307601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2509D15-AE42-AD45-E37D-8111EA0AD92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D7D096A-30C2-8676-9109-E668B65742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B1DB53D-E167-93EB-88C2-30C77F08E54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E743D52-270D-83E4-BAFA-5E08A556B880}"/>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345CE84-CFAE-B335-F41F-6CA5F6B9808D}"/>
              </a:ext>
            </a:extLst>
          </p:cNvPr>
          <p:cNvSpPr>
            <a:spLocks noGrp="1"/>
          </p:cNvSpPr>
          <p:nvPr>
            <p:ph type="ftr" sz="quarter" idx="11"/>
          </p:nvPr>
        </p:nvSpPr>
        <p:spPr/>
        <p:txBody>
          <a:bodyPr/>
          <a:lstStyle/>
          <a:p>
            <a:r>
              <a:rPr lang="en-US"/>
              <a:t>IBM Consulting / © 2021 IBM Corporation</a:t>
            </a:r>
          </a:p>
        </p:txBody>
      </p:sp>
      <p:sp>
        <p:nvSpPr>
          <p:cNvPr id="9" name="Slide Number Placeholder 8">
            <a:extLst>
              <a:ext uri="{FF2B5EF4-FFF2-40B4-BE49-F238E27FC236}">
                <a16:creationId xmlns:a16="http://schemas.microsoft.com/office/drawing/2014/main" id="{BF7299BC-50F9-20FE-1E51-4F6134062DB1}"/>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3372342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264C-5417-3C1B-D82D-348FB8B6885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FCD0093-FE1D-5A3D-38BB-7BCC164EAD03}"/>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36A268A-DD7E-6767-EDD7-747606F6E10D}"/>
              </a:ext>
            </a:extLst>
          </p:cNvPr>
          <p:cNvSpPr>
            <a:spLocks noGrp="1"/>
          </p:cNvSpPr>
          <p:nvPr>
            <p:ph type="ftr" sz="quarter" idx="11"/>
          </p:nvPr>
        </p:nvSpPr>
        <p:spPr/>
        <p:txBody>
          <a:bodyPr/>
          <a:lstStyle/>
          <a:p>
            <a:r>
              <a:rPr lang="en-US"/>
              <a:t>IBM Consulting / © 2021 IBM Corporation</a:t>
            </a:r>
          </a:p>
        </p:txBody>
      </p:sp>
      <p:sp>
        <p:nvSpPr>
          <p:cNvPr id="5" name="Slide Number Placeholder 4">
            <a:extLst>
              <a:ext uri="{FF2B5EF4-FFF2-40B4-BE49-F238E27FC236}">
                <a16:creationId xmlns:a16="http://schemas.microsoft.com/office/drawing/2014/main" id="{CDBC53C8-60E9-2169-FCDA-0EBACA38CA20}"/>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2496762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4DCB7C-173A-DE50-09F3-10466F39D22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F163079-A47E-1E3D-5D36-26410902BB5A}"/>
              </a:ext>
            </a:extLst>
          </p:cNvPr>
          <p:cNvSpPr>
            <a:spLocks noGrp="1"/>
          </p:cNvSpPr>
          <p:nvPr>
            <p:ph type="ftr" sz="quarter" idx="11"/>
          </p:nvPr>
        </p:nvSpPr>
        <p:spPr/>
        <p:txBody>
          <a:bodyPr/>
          <a:lstStyle/>
          <a:p>
            <a:r>
              <a:rPr lang="en-US"/>
              <a:t>IBM Consulting / © 2021 IBM Corporation</a:t>
            </a:r>
          </a:p>
        </p:txBody>
      </p:sp>
      <p:sp>
        <p:nvSpPr>
          <p:cNvPr id="4" name="Slide Number Placeholder 3">
            <a:extLst>
              <a:ext uri="{FF2B5EF4-FFF2-40B4-BE49-F238E27FC236}">
                <a16:creationId xmlns:a16="http://schemas.microsoft.com/office/drawing/2014/main" id="{16FDC4CA-F182-BCD4-53F2-654CE57464A5}"/>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1028817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4DC71-7F06-DB7C-3FE9-F8ED6AC2450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33B1FFB-13A5-EE09-E72A-FB764B3F1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A15E3BD-02C9-4297-4F2C-6B3842A4C8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34E6566-8669-2EE6-28FC-03E62AE14E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7FDE60A-4DEF-145B-23E6-717DAEDEEEEE}"/>
              </a:ext>
            </a:extLst>
          </p:cNvPr>
          <p:cNvSpPr>
            <a:spLocks noGrp="1"/>
          </p:cNvSpPr>
          <p:nvPr>
            <p:ph type="ftr" sz="quarter" idx="11"/>
          </p:nvPr>
        </p:nvSpPr>
        <p:spPr/>
        <p:txBody>
          <a:bodyPr/>
          <a:lstStyle/>
          <a:p>
            <a:r>
              <a:rPr lang="en-US"/>
              <a:t>IBM Consulting / © 2021 IBM Corporation</a:t>
            </a:r>
          </a:p>
        </p:txBody>
      </p:sp>
      <p:sp>
        <p:nvSpPr>
          <p:cNvPr id="7" name="Slide Number Placeholder 6">
            <a:extLst>
              <a:ext uri="{FF2B5EF4-FFF2-40B4-BE49-F238E27FC236}">
                <a16:creationId xmlns:a16="http://schemas.microsoft.com/office/drawing/2014/main" id="{8D51FA70-858A-2B57-4F40-1E27CAD664CA}"/>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3040823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762B-461D-A353-046E-64EEB011BEB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30826F1-CEE4-C0BC-27B6-24BFB0B6D9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F61663-ADA8-7009-7638-2454FE599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E6975E9-06E9-E639-46AB-5306BC9E8F3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B8EDEFA-0D10-5A9D-6ED6-8D1945814529}"/>
              </a:ext>
            </a:extLst>
          </p:cNvPr>
          <p:cNvSpPr>
            <a:spLocks noGrp="1"/>
          </p:cNvSpPr>
          <p:nvPr>
            <p:ph type="ftr" sz="quarter" idx="11"/>
          </p:nvPr>
        </p:nvSpPr>
        <p:spPr/>
        <p:txBody>
          <a:bodyPr/>
          <a:lstStyle/>
          <a:p>
            <a:r>
              <a:rPr lang="en-US"/>
              <a:t>IBM Consulting / © 2021 IBM Corporation</a:t>
            </a:r>
          </a:p>
        </p:txBody>
      </p:sp>
      <p:sp>
        <p:nvSpPr>
          <p:cNvPr id="7" name="Slide Number Placeholder 6">
            <a:extLst>
              <a:ext uri="{FF2B5EF4-FFF2-40B4-BE49-F238E27FC236}">
                <a16:creationId xmlns:a16="http://schemas.microsoft.com/office/drawing/2014/main" id="{FBE9FAC0-6D4B-08D3-699B-3B52873E4029}"/>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3636005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2A51-6067-76BF-8E11-0AF2C2457C5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E27CF17-3B46-83CF-38AB-EB346A647B1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0362F9A-0DE6-1148-A5EC-6FEEE37665C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142245D-1940-1F3F-2B01-2DB503AE625C}"/>
              </a:ext>
            </a:extLst>
          </p:cNvPr>
          <p:cNvSpPr>
            <a:spLocks noGrp="1"/>
          </p:cNvSpPr>
          <p:nvPr>
            <p:ph type="ftr" sz="quarter" idx="11"/>
          </p:nvPr>
        </p:nvSpPr>
        <p:spPr/>
        <p:txBody>
          <a:bodyPr/>
          <a:lstStyle/>
          <a:p>
            <a:r>
              <a:rPr lang="en-US"/>
              <a:t>IBM Consulting / © 2021 IBM Corporation</a:t>
            </a:r>
          </a:p>
        </p:txBody>
      </p:sp>
      <p:sp>
        <p:nvSpPr>
          <p:cNvPr id="6" name="Slide Number Placeholder 5">
            <a:extLst>
              <a:ext uri="{FF2B5EF4-FFF2-40B4-BE49-F238E27FC236}">
                <a16:creationId xmlns:a16="http://schemas.microsoft.com/office/drawing/2014/main" id="{A6C7AEE5-318C-8D70-645A-7F41CCBC84C6}"/>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1875780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BC9975-B574-D6A7-1511-A6832FC2337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A4AE47-81AE-8C8E-45AE-C3EB619F27E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77B208F-A62B-5537-3328-1E0C56B70F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EDB1346-4B76-E736-F1DB-B844A94D7402}"/>
              </a:ext>
            </a:extLst>
          </p:cNvPr>
          <p:cNvSpPr>
            <a:spLocks noGrp="1"/>
          </p:cNvSpPr>
          <p:nvPr>
            <p:ph type="ftr" sz="quarter" idx="11"/>
          </p:nvPr>
        </p:nvSpPr>
        <p:spPr/>
        <p:txBody>
          <a:bodyPr/>
          <a:lstStyle/>
          <a:p>
            <a:r>
              <a:rPr lang="en-US"/>
              <a:t>IBM Consulting / © 2021 IBM Corporation</a:t>
            </a:r>
          </a:p>
        </p:txBody>
      </p:sp>
      <p:sp>
        <p:nvSpPr>
          <p:cNvPr id="6" name="Slide Number Placeholder 5">
            <a:extLst>
              <a:ext uri="{FF2B5EF4-FFF2-40B4-BE49-F238E27FC236}">
                <a16:creationId xmlns:a16="http://schemas.microsoft.com/office/drawing/2014/main" id="{6E1038BD-3EC8-6140-47D5-4488D78F872B}"/>
              </a:ext>
            </a:extLst>
          </p:cNvPr>
          <p:cNvSpPr>
            <a:spLocks noGrp="1"/>
          </p:cNvSpPr>
          <p:nvPr>
            <p:ph type="sldNum" sz="quarter" idx="12"/>
          </p:nvPr>
        </p:nvSpPr>
        <p:spPr/>
        <p:txBody>
          <a:bodyPr/>
          <a:lstStyle/>
          <a:p>
            <a:fld id="{A976FAB8-503F-1449-B144-4863CF14683B}" type="slidenum">
              <a:rPr lang="en-US" smtClean="0"/>
              <a:t>‹#›</a:t>
            </a:fld>
            <a:endParaRPr lang="en-US"/>
          </a:p>
        </p:txBody>
      </p:sp>
    </p:spTree>
    <p:extLst>
      <p:ext uri="{BB962C8B-B14F-4D97-AF65-F5344CB8AC3E}">
        <p14:creationId xmlns:p14="http://schemas.microsoft.com/office/powerpoint/2010/main" val="2879739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a:xfrm>
            <a:off x="280416" y="256032"/>
            <a:ext cx="5522976" cy="5726176"/>
          </a:xfrm>
        </p:spPr>
        <p:txBody>
          <a:bodyPr/>
          <a:lstStyle>
            <a:lvl1pPr>
              <a:defRPr>
                <a:solidFill>
                  <a:schemeClr val="tx1"/>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p>
            <a:r>
              <a:rPr lang="en-US" dirty="0"/>
              <a:t>IBM Consulting / © 2021 IBM Corporation</a:t>
            </a:r>
          </a:p>
        </p:txBody>
      </p:sp>
    </p:spTree>
    <p:extLst>
      <p:ext uri="{BB962C8B-B14F-4D97-AF65-F5344CB8AC3E}">
        <p14:creationId xmlns:p14="http://schemas.microsoft.com/office/powerpoint/2010/main" val="3531760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3FBC59-D949-0450-CEB4-5E31D5CA65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A6AF217-AAE3-02D7-914B-83C3186549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C48DDD-F1CC-B060-7A2D-E5E938377D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CFA2AE42-5AEB-F28E-DD75-602C3C3080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IBM Consulting / © 2021 IBM Corporation</a:t>
            </a:r>
          </a:p>
        </p:txBody>
      </p:sp>
      <p:sp>
        <p:nvSpPr>
          <p:cNvPr id="6" name="Slide Number Placeholder 5">
            <a:extLst>
              <a:ext uri="{FF2B5EF4-FFF2-40B4-BE49-F238E27FC236}">
                <a16:creationId xmlns:a16="http://schemas.microsoft.com/office/drawing/2014/main" id="{3F7C5DFE-462E-C6D2-6ED3-5DC75D6079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76FAB8-503F-1449-B144-4863CF14683B}" type="slidenum">
              <a:rPr lang="en-US" smtClean="0"/>
              <a:t>‹#›</a:t>
            </a:fld>
            <a:endParaRPr lang="en-US"/>
          </a:p>
        </p:txBody>
      </p:sp>
    </p:spTree>
    <p:extLst>
      <p:ext uri="{BB962C8B-B14F-4D97-AF65-F5344CB8AC3E}">
        <p14:creationId xmlns:p14="http://schemas.microsoft.com/office/powerpoint/2010/main" val="2848759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anuojha15@gmail.co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mailto:ruvanars@in.ibm.com" TargetMode="External"/><Relationship Id="rId4" Type="http://schemas.openxmlformats.org/officeDocument/2006/relationships/hyperlink" Target="mailto:gaurav.sharma9@ibm.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jpe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emf"/><Relationship Id="rId10" Type="http://schemas.openxmlformats.org/officeDocument/2006/relationships/image" Target="../media/image32.png"/><Relationship Id="rId4" Type="http://schemas.openxmlformats.org/officeDocument/2006/relationships/image" Target="../media/image26.svg"/><Relationship Id="rId9" Type="http://schemas.openxmlformats.org/officeDocument/2006/relationships/image" Target="../media/image31.sv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7.emf"/><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descr="Blue 10 quarter slide background">
            <a:extLst>
              <a:ext uri="{FF2B5EF4-FFF2-40B4-BE49-F238E27FC236}">
                <a16:creationId xmlns:a16="http://schemas.microsoft.com/office/drawing/2014/main" id="{BA3C9124-D8E8-BCD0-59C0-3D408444116A}"/>
              </a:ext>
            </a:extLst>
          </p:cNvPr>
          <p:cNvSpPr/>
          <p:nvPr/>
        </p:nvSpPr>
        <p:spPr bwMode="auto">
          <a:xfrm rot="16200000">
            <a:off x="-1130291" y="1130302"/>
            <a:ext cx="6857997" cy="4597392"/>
          </a:xfrm>
          <a:prstGeom prst="rect">
            <a:avLst/>
          </a:prstGeom>
          <a:solidFill>
            <a:srgbClr val="CDE3F5">
              <a:alpha val="5037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fontAlgn="base">
              <a:spcBef>
                <a:spcPct val="0"/>
              </a:spcBef>
              <a:spcAft>
                <a:spcPct val="0"/>
              </a:spcAft>
            </a:pPr>
            <a:endParaRPr lang="en-RO" sz="1400">
              <a:solidFill>
                <a:srgbClr val="FFFFFF"/>
              </a:solidFill>
              <a:latin typeface="IBM Plex Sans Light"/>
            </a:endParaRPr>
          </a:p>
        </p:txBody>
      </p:sp>
      <p:sp>
        <p:nvSpPr>
          <p:cNvPr id="6" name="Text Placeholder 3">
            <a:extLst>
              <a:ext uri="{FF2B5EF4-FFF2-40B4-BE49-F238E27FC236}">
                <a16:creationId xmlns:a16="http://schemas.microsoft.com/office/drawing/2014/main" id="{F259FC79-A90F-72D0-15BD-91E0FD6557E4}"/>
              </a:ext>
            </a:extLst>
          </p:cNvPr>
          <p:cNvSpPr txBox="1">
            <a:spLocks/>
          </p:cNvSpPr>
          <p:nvPr/>
        </p:nvSpPr>
        <p:spPr>
          <a:xfrm>
            <a:off x="633727" y="1192423"/>
            <a:ext cx="3774150" cy="4699172"/>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rPr>
              <a:t>Microsoft </a:t>
            </a:r>
            <a:br>
              <a:rPr lang="en-US" sz="2800" b="0" kern="0" dirty="0">
                <a:solidFill>
                  <a:srgbClr val="0F62FE"/>
                </a:solidFill>
                <a:latin typeface="IBM Plex Sans Light"/>
              </a:rPr>
            </a:br>
            <a:r>
              <a:rPr lang="en-US" sz="2800" b="0" kern="0" dirty="0">
                <a:solidFill>
                  <a:srgbClr val="0F62FE"/>
                </a:solidFill>
                <a:latin typeface="IBM Plex Sans Light"/>
              </a:rPr>
              <a:t>Agentic AI  </a:t>
            </a:r>
            <a:br>
              <a:rPr lang="en-US" sz="2800" b="0" kern="0" dirty="0">
                <a:solidFill>
                  <a:srgbClr val="0F62FE"/>
                </a:solidFill>
                <a:latin typeface="IBM Plex Sans Light"/>
              </a:rPr>
            </a:br>
            <a:r>
              <a:rPr lang="en-US" sz="2800" b="0" kern="0" dirty="0">
                <a:solidFill>
                  <a:srgbClr val="0F62FE"/>
                </a:solidFill>
                <a:latin typeface="IBM Plex Sans Light"/>
              </a:rPr>
              <a:t>Hackathon</a:t>
            </a: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algn="l">
              <a:lnSpc>
                <a:spcPct val="90000"/>
              </a:lnSpc>
              <a:spcBef>
                <a:spcPct val="0"/>
              </a:spcBef>
              <a:spcAft>
                <a:spcPts val="600"/>
              </a:spcAft>
            </a:pPr>
            <a:endParaRPr lang="en-US" sz="2800" b="1" dirty="0">
              <a:solidFill>
                <a:schemeClr val="tx1"/>
              </a:solidFill>
              <a:latin typeface="+mj-lt"/>
              <a:ea typeface="+mj-ea"/>
              <a:cs typeface="+mj-cs"/>
            </a:endParaRPr>
          </a:p>
        </p:txBody>
      </p:sp>
      <p:sp>
        <p:nvSpPr>
          <p:cNvPr id="2" name="Slide Number Placeholder 1">
            <a:extLst>
              <a:ext uri="{FF2B5EF4-FFF2-40B4-BE49-F238E27FC236}">
                <a16:creationId xmlns:a16="http://schemas.microsoft.com/office/drawing/2014/main" id="{9D304160-BC88-A890-A3B1-203A592C9061}"/>
              </a:ext>
            </a:extLst>
          </p:cNvPr>
          <p:cNvSpPr txBox="1">
            <a:spLocks/>
          </p:cNvSpPr>
          <p:nvPr/>
        </p:nvSpPr>
        <p:spPr>
          <a:xfrm>
            <a:off x="11821885" y="6546817"/>
            <a:ext cx="242597" cy="20854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976FAB8-503F-1449-B144-4863CF14683B}" type="slidenum">
              <a:rPr lang="en-US" sz="700" smtClean="0"/>
              <a:pPr algn="r"/>
              <a:t>1</a:t>
            </a:fld>
            <a:endParaRPr lang="en-US" sz="700" dirty="0"/>
          </a:p>
        </p:txBody>
      </p:sp>
      <p:sp>
        <p:nvSpPr>
          <p:cNvPr id="7" name="Text Placeholder 3">
            <a:extLst>
              <a:ext uri="{FF2B5EF4-FFF2-40B4-BE49-F238E27FC236}">
                <a16:creationId xmlns:a16="http://schemas.microsoft.com/office/drawing/2014/main" id="{F1F9EE6B-3E95-CDD0-B9F4-4584B58C736C}"/>
              </a:ext>
            </a:extLst>
          </p:cNvPr>
          <p:cNvSpPr txBox="1">
            <a:spLocks/>
          </p:cNvSpPr>
          <p:nvPr/>
        </p:nvSpPr>
        <p:spPr>
          <a:xfrm>
            <a:off x="6008577" y="1156287"/>
            <a:ext cx="3774150" cy="4268284"/>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rPr>
              <a:t>Insurance Underwriter Risk/Quote Referral Agent</a:t>
            </a: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algn="l">
              <a:lnSpc>
                <a:spcPct val="90000"/>
              </a:lnSpc>
              <a:spcBef>
                <a:spcPct val="0"/>
              </a:spcBef>
              <a:spcAft>
                <a:spcPts val="600"/>
              </a:spcAft>
            </a:pPr>
            <a:endParaRPr lang="en-US" sz="2800" b="1" dirty="0">
              <a:solidFill>
                <a:schemeClr val="tx1"/>
              </a:solidFill>
              <a:latin typeface="+mj-lt"/>
              <a:ea typeface="+mj-ea"/>
              <a:cs typeface="+mj-cs"/>
            </a:endParaRPr>
          </a:p>
        </p:txBody>
      </p:sp>
      <p:sp>
        <p:nvSpPr>
          <p:cNvPr id="8" name="Text Placeholder 3">
            <a:extLst>
              <a:ext uri="{FF2B5EF4-FFF2-40B4-BE49-F238E27FC236}">
                <a16:creationId xmlns:a16="http://schemas.microsoft.com/office/drawing/2014/main" id="{C1B083E1-1900-1C5C-D918-C3C261E1E251}"/>
              </a:ext>
            </a:extLst>
          </p:cNvPr>
          <p:cNvSpPr txBox="1">
            <a:spLocks/>
          </p:cNvSpPr>
          <p:nvPr/>
        </p:nvSpPr>
        <p:spPr>
          <a:xfrm>
            <a:off x="6197112" y="3776938"/>
            <a:ext cx="5671233" cy="5560946"/>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rPr>
              <a:t>Team – </a:t>
            </a:r>
            <a:r>
              <a:rPr lang="en-US" sz="2800" b="0" kern="0" dirty="0" err="1">
                <a:solidFill>
                  <a:srgbClr val="0F62FE"/>
                </a:solidFill>
                <a:latin typeface="IBM Plex Sans Light"/>
              </a:rPr>
              <a:t>underwriterriskrefagent</a:t>
            </a: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r>
              <a:rPr lang="en-US" sz="2800" b="0" kern="0" dirty="0">
                <a:solidFill>
                  <a:srgbClr val="0F62FE"/>
                </a:solidFill>
                <a:latin typeface="IBM Plex Sans Light"/>
              </a:rPr>
              <a:t>Members:</a:t>
            </a:r>
          </a:p>
          <a:p>
            <a:pPr marL="457200" indent="-457200" defTabSz="2438156">
              <a:lnSpc>
                <a:spcPct val="100000"/>
              </a:lnSpc>
              <a:buFont typeface="Arial" panose="020B0604020202020204" pitchFamily="34" charset="0"/>
              <a:buChar char="•"/>
            </a:pPr>
            <a:r>
              <a:rPr lang="en-US" sz="2800" b="0" kern="0" dirty="0">
                <a:solidFill>
                  <a:srgbClr val="0F62FE"/>
                </a:solidFill>
                <a:latin typeface="IBM Plex Sans Light"/>
                <a:hlinkClick r:id="rId3"/>
              </a:rPr>
              <a:t>ranuojha15@gmail.com</a:t>
            </a:r>
            <a:endParaRPr lang="en-US" sz="2800" b="0" kern="0" dirty="0">
              <a:solidFill>
                <a:srgbClr val="0F62FE"/>
              </a:solidFill>
              <a:latin typeface="IBM Plex Sans Light"/>
            </a:endParaRPr>
          </a:p>
          <a:p>
            <a:pPr marL="457200" indent="-457200" defTabSz="2438156">
              <a:lnSpc>
                <a:spcPct val="100000"/>
              </a:lnSpc>
              <a:buFont typeface="Arial" panose="020B0604020202020204" pitchFamily="34" charset="0"/>
              <a:buChar char="•"/>
            </a:pPr>
            <a:r>
              <a:rPr lang="en-US" sz="2800" b="0" kern="0" dirty="0">
                <a:solidFill>
                  <a:srgbClr val="0F62FE"/>
                </a:solidFill>
                <a:latin typeface="IBM Plex Sans Light"/>
                <a:hlinkClick r:id="rId4"/>
              </a:rPr>
              <a:t>gaurav.sharma9@ibm.com</a:t>
            </a:r>
            <a:endParaRPr lang="en-US" sz="2800" b="0" kern="0" dirty="0">
              <a:solidFill>
                <a:srgbClr val="0F62FE"/>
              </a:solidFill>
              <a:latin typeface="IBM Plex Sans Light"/>
            </a:endParaRPr>
          </a:p>
          <a:p>
            <a:pPr marL="457200" indent="-457200" defTabSz="2438156">
              <a:lnSpc>
                <a:spcPct val="100000"/>
              </a:lnSpc>
              <a:buFont typeface="Arial" panose="020B0604020202020204" pitchFamily="34" charset="0"/>
              <a:buChar char="•"/>
            </a:pPr>
            <a:r>
              <a:rPr lang="en-US" sz="2800" b="0" kern="0" dirty="0">
                <a:solidFill>
                  <a:srgbClr val="0F62FE"/>
                </a:solidFill>
                <a:latin typeface="IBM Plex Sans Light"/>
                <a:hlinkClick r:id="rId5"/>
              </a:rPr>
              <a:t>ruvanars@in.ibm.com</a:t>
            </a:r>
            <a:r>
              <a:rPr lang="en-US" sz="2800" b="0" kern="0" dirty="0">
                <a:solidFill>
                  <a:srgbClr val="0F62FE"/>
                </a:solidFill>
                <a:latin typeface="IBM Plex Sans Light"/>
              </a:rPr>
              <a:t> </a:t>
            </a:r>
          </a:p>
          <a:p>
            <a:pPr defTabSz="2438156">
              <a:lnSpc>
                <a:spcPct val="100000"/>
              </a:lnSpc>
            </a:pPr>
            <a:r>
              <a:rPr lang="en-US" sz="2800" b="0" kern="0" dirty="0">
                <a:solidFill>
                  <a:srgbClr val="0F62FE"/>
                </a:solidFill>
                <a:latin typeface="IBM Plex Sans Light"/>
              </a:rPr>
              <a:t>  </a:t>
            </a: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defTabSz="2438156">
              <a:lnSpc>
                <a:spcPct val="100000"/>
              </a:lnSpc>
            </a:pPr>
            <a:endParaRPr lang="en-US" sz="2800" b="0" kern="0" dirty="0">
              <a:solidFill>
                <a:srgbClr val="0F62FE"/>
              </a:solidFill>
              <a:latin typeface="IBM Plex Sans Light"/>
            </a:endParaRPr>
          </a:p>
          <a:p>
            <a:pPr algn="l">
              <a:lnSpc>
                <a:spcPct val="90000"/>
              </a:lnSpc>
              <a:spcBef>
                <a:spcPct val="0"/>
              </a:spcBef>
              <a:spcAft>
                <a:spcPts val="600"/>
              </a:spcAft>
            </a:pPr>
            <a:endParaRPr lang="en-US" sz="2800" b="1" dirty="0">
              <a:solidFill>
                <a:schemeClr val="tx1"/>
              </a:solidFill>
              <a:latin typeface="+mj-lt"/>
              <a:ea typeface="+mj-ea"/>
              <a:cs typeface="+mj-cs"/>
            </a:endParaRPr>
          </a:p>
        </p:txBody>
      </p:sp>
    </p:spTree>
    <p:extLst>
      <p:ext uri="{BB962C8B-B14F-4D97-AF65-F5344CB8AC3E}">
        <p14:creationId xmlns:p14="http://schemas.microsoft.com/office/powerpoint/2010/main" val="2201718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ular Callout 5">
            <a:extLst>
              <a:ext uri="{FF2B5EF4-FFF2-40B4-BE49-F238E27FC236}">
                <a16:creationId xmlns:a16="http://schemas.microsoft.com/office/drawing/2014/main" id="{715C3986-4946-3DEA-7A0B-E07B73069038}"/>
              </a:ext>
            </a:extLst>
          </p:cNvPr>
          <p:cNvSpPr/>
          <p:nvPr/>
        </p:nvSpPr>
        <p:spPr>
          <a:xfrm>
            <a:off x="8041220" y="1195634"/>
            <a:ext cx="3222205" cy="2018077"/>
          </a:xfrm>
          <a:prstGeom prst="wedgeRectCallout">
            <a:avLst>
              <a:gd name="adj1" fmla="val -2000"/>
              <a:gd name="adj2" fmla="val 76652"/>
            </a:avLst>
          </a:prstGeom>
          <a:solidFill>
            <a:schemeClr val="accent5">
              <a:alpha val="1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fontAlgn="base">
              <a:spcBef>
                <a:spcPct val="0"/>
              </a:spcBef>
              <a:spcAft>
                <a:spcPct val="0"/>
              </a:spcAft>
            </a:pPr>
            <a:endParaRPr lang="en-US" sz="1400">
              <a:solidFill>
                <a:srgbClr val="FFFFFF"/>
              </a:solidFill>
              <a:latin typeface="IBM Plex Sans Light"/>
            </a:endParaRPr>
          </a:p>
        </p:txBody>
      </p:sp>
      <p:sp>
        <p:nvSpPr>
          <p:cNvPr id="7" name="TextBox 6">
            <a:extLst>
              <a:ext uri="{FF2B5EF4-FFF2-40B4-BE49-F238E27FC236}">
                <a16:creationId xmlns:a16="http://schemas.microsoft.com/office/drawing/2014/main" id="{092F9936-C1F5-C7C3-4E4C-379E09ABA17C}"/>
              </a:ext>
            </a:extLst>
          </p:cNvPr>
          <p:cNvSpPr txBox="1"/>
          <p:nvPr/>
        </p:nvSpPr>
        <p:spPr>
          <a:xfrm>
            <a:off x="8140400" y="1603113"/>
            <a:ext cx="2991142" cy="1077218"/>
          </a:xfrm>
          <a:prstGeom prst="rect">
            <a:avLst/>
          </a:prstGeom>
          <a:noFill/>
        </p:spPr>
        <p:txBody>
          <a:bodyPr wrap="square">
            <a:spAutoFit/>
          </a:bodyPr>
          <a:lstStyle/>
          <a:p>
            <a:pPr lvl="0"/>
            <a:r>
              <a:rPr lang="en-GB" sz="1600" i="1" dirty="0">
                <a:solidFill>
                  <a:schemeClr val="tx1"/>
                </a:solidFill>
                <a:latin typeface="IBM Plex Sans" panose="020B0503050203000203" pitchFamily="34" charset="0"/>
              </a:rPr>
              <a:t>How can we assist underwriters to decide if a risk or quote needs to be referred to a colleague for further review?</a:t>
            </a:r>
          </a:p>
        </p:txBody>
      </p:sp>
      <p:sp>
        <p:nvSpPr>
          <p:cNvPr id="2" name="Text Placeholder 3">
            <a:extLst>
              <a:ext uri="{FF2B5EF4-FFF2-40B4-BE49-F238E27FC236}">
                <a16:creationId xmlns:a16="http://schemas.microsoft.com/office/drawing/2014/main" id="{8263B89A-82C3-1188-FE8E-F6B3A17807FB}"/>
              </a:ext>
            </a:extLst>
          </p:cNvPr>
          <p:cNvSpPr txBox="1">
            <a:spLocks/>
          </p:cNvSpPr>
          <p:nvPr/>
        </p:nvSpPr>
        <p:spPr>
          <a:xfrm>
            <a:off x="7879254" y="133131"/>
            <a:ext cx="3780049" cy="430887"/>
          </a:xfrm>
          <a:prstGeom prst="rect">
            <a:avLst/>
          </a:prstGeom>
          <a:ln w="12700" cap="flat">
            <a:noFill/>
            <a:miter lim="400000"/>
          </a:ln>
          <a:sp3d/>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chemeClr val="accent5"/>
                </a:solidFill>
                <a:latin typeface="IBM Plex Sans Light"/>
                <a:sym typeface="IBM Plex Sans Light"/>
              </a:rPr>
              <a:t>Hackathon Use Case</a:t>
            </a:r>
            <a:endParaRPr lang="en-US" sz="2800" b="0" kern="0" dirty="0">
              <a:solidFill>
                <a:schemeClr val="accent5"/>
              </a:solidFill>
              <a:latin typeface="IBM Plex Sans Light"/>
            </a:endParaRPr>
          </a:p>
        </p:txBody>
      </p:sp>
      <p:sp>
        <p:nvSpPr>
          <p:cNvPr id="8" name="Slide Number Placeholder 1">
            <a:extLst>
              <a:ext uri="{FF2B5EF4-FFF2-40B4-BE49-F238E27FC236}">
                <a16:creationId xmlns:a16="http://schemas.microsoft.com/office/drawing/2014/main" id="{6369005B-A25F-5850-6896-0BCB8AF1B6E0}"/>
              </a:ext>
            </a:extLst>
          </p:cNvPr>
          <p:cNvSpPr txBox="1">
            <a:spLocks/>
          </p:cNvSpPr>
          <p:nvPr/>
        </p:nvSpPr>
        <p:spPr>
          <a:xfrm>
            <a:off x="11821885" y="6546817"/>
            <a:ext cx="242597" cy="20854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976FAB8-503F-1449-B144-4863CF14683B}" type="slidenum">
              <a:rPr lang="en-US" sz="700" smtClean="0"/>
              <a:pPr algn="r"/>
              <a:t>2</a:t>
            </a:fld>
            <a:endParaRPr lang="en-US" sz="700" dirty="0"/>
          </a:p>
        </p:txBody>
      </p:sp>
      <p:sp>
        <p:nvSpPr>
          <p:cNvPr id="10" name="TextBox 9">
            <a:extLst>
              <a:ext uri="{FF2B5EF4-FFF2-40B4-BE49-F238E27FC236}">
                <a16:creationId xmlns:a16="http://schemas.microsoft.com/office/drawing/2014/main" id="{027A8000-C649-371C-8DAE-8451D6EA5E93}"/>
              </a:ext>
            </a:extLst>
          </p:cNvPr>
          <p:cNvSpPr txBox="1"/>
          <p:nvPr/>
        </p:nvSpPr>
        <p:spPr>
          <a:xfrm>
            <a:off x="1241349" y="988732"/>
            <a:ext cx="5903729" cy="2246769"/>
          </a:xfrm>
          <a:prstGeom prst="rect">
            <a:avLst/>
          </a:prstGeom>
          <a:noFill/>
        </p:spPr>
        <p:txBody>
          <a:bodyPr wrap="square">
            <a:spAutoFit/>
          </a:bodyPr>
          <a:lstStyle/>
          <a:p>
            <a:pPr>
              <a:buNone/>
            </a:pPr>
            <a:r>
              <a:rPr lang="en-GB" sz="1400" b="1" dirty="0">
                <a:latin typeface="IBM Plex Sans" panose="020B0503050203000203" pitchFamily="34" charset="0"/>
              </a:rPr>
              <a:t>Business Challenge:</a:t>
            </a:r>
          </a:p>
          <a:p>
            <a:pPr>
              <a:buFont typeface="Arial" panose="020B0604020202020204" pitchFamily="34" charset="0"/>
              <a:buChar char="•"/>
            </a:pPr>
            <a:r>
              <a:rPr lang="en-GB" sz="1400" dirty="0">
                <a:latin typeface="IBM Plex Sans" panose="020B0503050203000203" pitchFamily="34" charset="0"/>
              </a:rPr>
              <a:t> Underwriters face growing complexity to create a quote for an insurance policy and decide on the referral needed, with thousands of potential referral triggers.</a:t>
            </a:r>
          </a:p>
          <a:p>
            <a:pPr>
              <a:buFont typeface="Arial" panose="020B0604020202020204" pitchFamily="34" charset="0"/>
              <a:buChar char="•"/>
            </a:pPr>
            <a:endParaRPr lang="en-GB" sz="1400" dirty="0">
              <a:latin typeface="IBM Plex Sans" panose="020B0503050203000203" pitchFamily="34" charset="0"/>
            </a:endParaRPr>
          </a:p>
          <a:p>
            <a:pPr>
              <a:buFont typeface="Arial" panose="020B0604020202020204" pitchFamily="34" charset="0"/>
              <a:buChar char="•"/>
            </a:pPr>
            <a:r>
              <a:rPr lang="en-GB" sz="1400" dirty="0">
                <a:latin typeface="IBM Plex Sans" panose="020B0503050203000203" pitchFamily="34" charset="0"/>
              </a:rPr>
              <a:t> Manual analysis increases operational inefficiency, delays decision-making, and introduces variability in risk assessments.</a:t>
            </a:r>
          </a:p>
          <a:p>
            <a:pPr>
              <a:buFont typeface="Arial" panose="020B0604020202020204" pitchFamily="34" charset="0"/>
              <a:buChar char="•"/>
            </a:pPr>
            <a:endParaRPr lang="en-GB" sz="1400" dirty="0">
              <a:latin typeface="IBM Plex Sans" panose="020B0503050203000203" pitchFamily="34" charset="0"/>
            </a:endParaRPr>
          </a:p>
          <a:p>
            <a:pPr>
              <a:buFont typeface="Arial" panose="020B0604020202020204" pitchFamily="34" charset="0"/>
              <a:buChar char="•"/>
            </a:pPr>
            <a:r>
              <a:rPr lang="en-GB" sz="1400" dirty="0">
                <a:latin typeface="IBM Plex Sans" panose="020B0503050203000203" pitchFamily="34" charset="0"/>
              </a:rPr>
              <a:t> There is a strategic need to enhance underwriting speed, consistency, and risk evaluation without increasing workload.</a:t>
            </a:r>
          </a:p>
        </p:txBody>
      </p:sp>
      <p:sp>
        <p:nvSpPr>
          <p:cNvPr id="12" name="TextBox 11">
            <a:extLst>
              <a:ext uri="{FF2B5EF4-FFF2-40B4-BE49-F238E27FC236}">
                <a16:creationId xmlns:a16="http://schemas.microsoft.com/office/drawing/2014/main" id="{EBA371E2-9203-ED13-BDB4-EF63CC80CC3A}"/>
              </a:ext>
            </a:extLst>
          </p:cNvPr>
          <p:cNvSpPr txBox="1"/>
          <p:nvPr/>
        </p:nvSpPr>
        <p:spPr>
          <a:xfrm>
            <a:off x="1376723" y="3488648"/>
            <a:ext cx="6424726" cy="1815882"/>
          </a:xfrm>
          <a:prstGeom prst="rect">
            <a:avLst/>
          </a:prstGeom>
          <a:noFill/>
        </p:spPr>
        <p:txBody>
          <a:bodyPr wrap="square">
            <a:spAutoFit/>
          </a:bodyPr>
          <a:lstStyle/>
          <a:p>
            <a:pPr>
              <a:buNone/>
            </a:pPr>
            <a:r>
              <a:rPr lang="en-GB" sz="1400" b="1" dirty="0">
                <a:latin typeface="IBM Plex Sans" panose="020B0503050203000203" pitchFamily="34" charset="0"/>
              </a:rPr>
              <a:t>Problem Statement:</a:t>
            </a:r>
          </a:p>
          <a:p>
            <a:pPr>
              <a:buNone/>
            </a:pPr>
            <a:endParaRPr lang="en-GB" sz="1400" b="1" dirty="0">
              <a:latin typeface="IBM Plex Sans" panose="020B0503050203000203" pitchFamily="34" charset="0"/>
            </a:endParaRPr>
          </a:p>
          <a:p>
            <a:pPr>
              <a:buFont typeface="Arial" panose="020B0604020202020204" pitchFamily="34" charset="0"/>
              <a:buChar char="•"/>
            </a:pPr>
            <a:r>
              <a:rPr lang="en-GB" sz="1400" dirty="0">
                <a:latin typeface="IBM Plex Sans" panose="020B0503050203000203" pitchFamily="34" charset="0"/>
              </a:rPr>
              <a:t> Assist underwriters by predicting risk referrals and highlighting probable referral reasons during the quoting process.</a:t>
            </a:r>
          </a:p>
          <a:p>
            <a:pPr>
              <a:buFont typeface="Arial" panose="020B0604020202020204" pitchFamily="34" charset="0"/>
              <a:buChar char="•"/>
            </a:pPr>
            <a:endParaRPr lang="en-GB" sz="1400" dirty="0">
              <a:latin typeface="IBM Plex Sans" panose="020B0503050203000203" pitchFamily="34" charset="0"/>
            </a:endParaRPr>
          </a:p>
          <a:p>
            <a:pPr>
              <a:buFont typeface="Arial" panose="020B0604020202020204" pitchFamily="34" charset="0"/>
              <a:buChar char="•"/>
            </a:pPr>
            <a:r>
              <a:rPr lang="en-GB" sz="1400" dirty="0">
                <a:latin typeface="IBM Plex Sans" panose="020B0503050203000203" pitchFamily="34" charset="0"/>
              </a:rPr>
              <a:t> Streamline underwriting workflows to improve turnaround times and decision quality.</a:t>
            </a:r>
          </a:p>
          <a:p>
            <a:pPr>
              <a:buFont typeface="Arial" panose="020B0604020202020204" pitchFamily="34" charset="0"/>
              <a:buChar char="•"/>
            </a:pPr>
            <a:endParaRPr lang="en-GB" sz="1400" dirty="0">
              <a:latin typeface="IBM Plex Sans" panose="020B0503050203000203" pitchFamily="34" charset="0"/>
            </a:endParaRPr>
          </a:p>
        </p:txBody>
      </p:sp>
      <p:pic>
        <p:nvPicPr>
          <p:cNvPr id="17" name="Graphic 16" descr="Iceberg outline">
            <a:extLst>
              <a:ext uri="{FF2B5EF4-FFF2-40B4-BE49-F238E27FC236}">
                <a16:creationId xmlns:a16="http://schemas.microsoft.com/office/drawing/2014/main" id="{20DBE5A0-BB82-9EC4-9F6D-E205451B6A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32" y="3376824"/>
            <a:ext cx="914400" cy="914400"/>
          </a:xfrm>
          <a:prstGeom prst="rect">
            <a:avLst/>
          </a:prstGeom>
        </p:spPr>
      </p:pic>
      <p:pic>
        <p:nvPicPr>
          <p:cNvPr id="19" name="Graphic 18" descr="Hurdle outline">
            <a:extLst>
              <a:ext uri="{FF2B5EF4-FFF2-40B4-BE49-F238E27FC236}">
                <a16:creationId xmlns:a16="http://schemas.microsoft.com/office/drawing/2014/main" id="{00C0B5BC-0BC2-5D50-2EC1-84CDA5991E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911213"/>
            <a:ext cx="914400" cy="914400"/>
          </a:xfrm>
          <a:prstGeom prst="rect">
            <a:avLst/>
          </a:prstGeom>
        </p:spPr>
      </p:pic>
    </p:spTree>
    <p:extLst>
      <p:ext uri="{BB962C8B-B14F-4D97-AF65-F5344CB8AC3E}">
        <p14:creationId xmlns:p14="http://schemas.microsoft.com/office/powerpoint/2010/main" val="3022734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Blue 10 quarter slide background">
            <a:extLst>
              <a:ext uri="{FF2B5EF4-FFF2-40B4-BE49-F238E27FC236}">
                <a16:creationId xmlns:a16="http://schemas.microsoft.com/office/drawing/2014/main" id="{6582CBF6-ED2C-50D3-FEDA-BEFB246BF1BC}"/>
              </a:ext>
            </a:extLst>
          </p:cNvPr>
          <p:cNvSpPr/>
          <p:nvPr/>
        </p:nvSpPr>
        <p:spPr bwMode="auto">
          <a:xfrm rot="16200000">
            <a:off x="-1189293" y="1189298"/>
            <a:ext cx="6858004" cy="4479401"/>
          </a:xfrm>
          <a:prstGeom prst="rect">
            <a:avLst/>
          </a:prstGeom>
          <a:solidFill>
            <a:srgbClr val="CDE3F5">
              <a:alpha val="5037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fontAlgn="base">
              <a:spcBef>
                <a:spcPct val="0"/>
              </a:spcBef>
              <a:spcAft>
                <a:spcPct val="0"/>
              </a:spcAft>
            </a:pPr>
            <a:endParaRPr lang="en-RO" sz="1400">
              <a:solidFill>
                <a:srgbClr val="FFFFFF"/>
              </a:solidFill>
              <a:latin typeface="IBM Plex Sans Light"/>
            </a:endParaRPr>
          </a:p>
        </p:txBody>
      </p:sp>
      <p:sp>
        <p:nvSpPr>
          <p:cNvPr id="4" name="Text Placeholder 3">
            <a:extLst>
              <a:ext uri="{FF2B5EF4-FFF2-40B4-BE49-F238E27FC236}">
                <a16:creationId xmlns:a16="http://schemas.microsoft.com/office/drawing/2014/main" id="{27D34565-73B2-D9CF-D3AE-8831D54A958F}"/>
              </a:ext>
            </a:extLst>
          </p:cNvPr>
          <p:cNvSpPr txBox="1">
            <a:spLocks/>
          </p:cNvSpPr>
          <p:nvPr/>
        </p:nvSpPr>
        <p:spPr>
          <a:xfrm>
            <a:off x="302853" y="228824"/>
            <a:ext cx="4461652" cy="430887"/>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sym typeface="IBM Plex Sans Light"/>
              </a:rPr>
              <a:t>Our Hackathon Solution</a:t>
            </a:r>
            <a:endParaRPr lang="en-US" sz="2800" b="0" kern="0" dirty="0">
              <a:solidFill>
                <a:schemeClr val="tx1"/>
              </a:solidFill>
              <a:latin typeface="IBM Plex Sans Light"/>
            </a:endParaRPr>
          </a:p>
        </p:txBody>
      </p:sp>
      <p:grpSp>
        <p:nvGrpSpPr>
          <p:cNvPr id="2" name="Group 1">
            <a:extLst>
              <a:ext uri="{FF2B5EF4-FFF2-40B4-BE49-F238E27FC236}">
                <a16:creationId xmlns:a16="http://schemas.microsoft.com/office/drawing/2014/main" id="{3D886C29-9C64-E7DC-71B6-95C14DF13F66}"/>
              </a:ext>
            </a:extLst>
          </p:cNvPr>
          <p:cNvGrpSpPr/>
          <p:nvPr/>
        </p:nvGrpSpPr>
        <p:grpSpPr>
          <a:xfrm>
            <a:off x="931994" y="3861595"/>
            <a:ext cx="2475384" cy="2508528"/>
            <a:chOff x="6535905" y="935590"/>
            <a:chExt cx="5085494" cy="5153585"/>
          </a:xfrm>
        </p:grpSpPr>
        <p:sp>
          <p:nvSpPr>
            <p:cNvPr id="8" name="Freeform 40">
              <a:extLst>
                <a:ext uri="{FF2B5EF4-FFF2-40B4-BE49-F238E27FC236}">
                  <a16:creationId xmlns:a16="http://schemas.microsoft.com/office/drawing/2014/main" id="{E7D1F079-5D94-3680-7A79-9DC0D7D72F31}"/>
                </a:ext>
              </a:extLst>
            </p:cNvPr>
            <p:cNvSpPr/>
            <p:nvPr/>
          </p:nvSpPr>
          <p:spPr bwMode="auto">
            <a:xfrm rot="10800000">
              <a:off x="9056966" y="3446834"/>
              <a:ext cx="1904752" cy="1904752"/>
            </a:xfrm>
            <a:custGeom>
              <a:avLst/>
              <a:gdLst>
                <a:gd name="connsiteX0" fmla="*/ 1828800 w 1828800"/>
                <a:gd name="connsiteY0" fmla="*/ 0 h 1828800"/>
                <a:gd name="connsiteX1" fmla="*/ 1828800 w 1828800"/>
                <a:gd name="connsiteY1" fmla="*/ 457200 h 1828800"/>
                <a:gd name="connsiteX2" fmla="*/ 457200 w 1828800"/>
                <a:gd name="connsiteY2" fmla="*/ 1828800 h 1828800"/>
                <a:gd name="connsiteX3" fmla="*/ 0 w 1828800"/>
                <a:gd name="connsiteY3" fmla="*/ 1828800 h 1828800"/>
                <a:gd name="connsiteX4" fmla="*/ 18288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0"/>
                  </a:moveTo>
                  <a:lnTo>
                    <a:pt x="1828800" y="457200"/>
                  </a:lnTo>
                  <a:cubicBezTo>
                    <a:pt x="1071286" y="457200"/>
                    <a:pt x="457200" y="1071286"/>
                    <a:pt x="457200" y="1828800"/>
                  </a:cubicBezTo>
                  <a:lnTo>
                    <a:pt x="0" y="1828800"/>
                  </a:lnTo>
                  <a:cubicBezTo>
                    <a:pt x="0" y="818782"/>
                    <a:pt x="818782" y="0"/>
                    <a:pt x="1828800" y="0"/>
                  </a:cubicBezTo>
                  <a:close/>
                </a:path>
              </a:pathLst>
            </a:custGeom>
            <a:solidFill>
              <a:srgbClr val="A56EFF">
                <a:alpha val="30000"/>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grpSp>
          <p:nvGrpSpPr>
            <p:cNvPr id="9" name="Group 8">
              <a:extLst>
                <a:ext uri="{FF2B5EF4-FFF2-40B4-BE49-F238E27FC236}">
                  <a16:creationId xmlns:a16="http://schemas.microsoft.com/office/drawing/2014/main" id="{80BC8BA5-8AC0-D6A7-E1ED-CA1E5F9FE675}"/>
                </a:ext>
              </a:extLst>
            </p:cNvPr>
            <p:cNvGrpSpPr/>
            <p:nvPr/>
          </p:nvGrpSpPr>
          <p:grpSpPr>
            <a:xfrm>
              <a:off x="7147678" y="1534884"/>
              <a:ext cx="3809504" cy="3809504"/>
              <a:chOff x="8991600" y="2057400"/>
              <a:chExt cx="4144866" cy="4140300"/>
            </a:xfrm>
          </p:grpSpPr>
          <p:sp>
            <p:nvSpPr>
              <p:cNvPr id="24" name="Freeform 42">
                <a:extLst>
                  <a:ext uri="{FF2B5EF4-FFF2-40B4-BE49-F238E27FC236}">
                    <a16:creationId xmlns:a16="http://schemas.microsoft.com/office/drawing/2014/main" id="{1AE50996-F412-47F9-3005-E077726357BD}"/>
                  </a:ext>
                </a:extLst>
              </p:cNvPr>
              <p:cNvSpPr/>
              <p:nvPr/>
            </p:nvSpPr>
            <p:spPr bwMode="auto">
              <a:xfrm rot="10800000">
                <a:off x="11066303" y="4127536"/>
                <a:ext cx="2070163" cy="2070164"/>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rgbClr val="002D9C">
                  <a:alpha val="24634"/>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sp>
            <p:nvSpPr>
              <p:cNvPr id="25" name="Freeform 43">
                <a:extLst>
                  <a:ext uri="{FF2B5EF4-FFF2-40B4-BE49-F238E27FC236}">
                    <a16:creationId xmlns:a16="http://schemas.microsoft.com/office/drawing/2014/main" id="{1FB1A040-D153-7A21-BDBF-B952747042F6}"/>
                  </a:ext>
                </a:extLst>
              </p:cNvPr>
              <p:cNvSpPr/>
              <p:nvPr/>
            </p:nvSpPr>
            <p:spPr bwMode="auto">
              <a:xfrm rot="5400000">
                <a:off x="11061763" y="2057400"/>
                <a:ext cx="2070164" cy="2070163"/>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rgbClr val="CDE3F5">
                  <a:alpha val="70128"/>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sp>
            <p:nvSpPr>
              <p:cNvPr id="26" name="Freeform 44">
                <a:extLst>
                  <a:ext uri="{FF2B5EF4-FFF2-40B4-BE49-F238E27FC236}">
                    <a16:creationId xmlns:a16="http://schemas.microsoft.com/office/drawing/2014/main" id="{0D7116E3-BBEE-FED2-DFBD-28132F65EB17}"/>
                  </a:ext>
                </a:extLst>
              </p:cNvPr>
              <p:cNvSpPr/>
              <p:nvPr/>
            </p:nvSpPr>
            <p:spPr bwMode="auto">
              <a:xfrm>
                <a:off x="8991600" y="2057401"/>
                <a:ext cx="2070163" cy="2070164"/>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rgbClr val="33B1FF">
                  <a:alpha val="60000"/>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grpSp>
        <p:sp>
          <p:nvSpPr>
            <p:cNvPr id="11" name="Freeform 45">
              <a:extLst>
                <a:ext uri="{FF2B5EF4-FFF2-40B4-BE49-F238E27FC236}">
                  <a16:creationId xmlns:a16="http://schemas.microsoft.com/office/drawing/2014/main" id="{A19C3538-0C6E-8DDB-9B53-098002A7EDCE}"/>
                </a:ext>
              </a:extLst>
            </p:cNvPr>
            <p:cNvSpPr/>
            <p:nvPr/>
          </p:nvSpPr>
          <p:spPr bwMode="auto">
            <a:xfrm>
              <a:off x="8190197" y="2577180"/>
              <a:ext cx="1724911" cy="862456"/>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33B1FF">
                <a:alpha val="60000"/>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sp>
          <p:nvSpPr>
            <p:cNvPr id="12" name="Oval 11">
              <a:extLst>
                <a:ext uri="{FF2B5EF4-FFF2-40B4-BE49-F238E27FC236}">
                  <a16:creationId xmlns:a16="http://schemas.microsoft.com/office/drawing/2014/main" id="{8525A67D-9597-5AB7-56DD-1D663566D783}"/>
                </a:ext>
              </a:extLst>
            </p:cNvPr>
            <p:cNvSpPr>
              <a:spLocks noChangeAspect="1"/>
            </p:cNvSpPr>
            <p:nvPr/>
          </p:nvSpPr>
          <p:spPr bwMode="auto">
            <a:xfrm>
              <a:off x="8721200" y="3120530"/>
              <a:ext cx="646841" cy="646842"/>
            </a:xfrm>
            <a:prstGeom prst="ellipse">
              <a:avLst/>
            </a:prstGeom>
            <a:solidFill>
              <a:srgbClr val="A56EFF">
                <a:alpha val="49955"/>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sp>
          <p:nvSpPr>
            <p:cNvPr id="14" name="Freeform 47">
              <a:extLst>
                <a:ext uri="{FF2B5EF4-FFF2-40B4-BE49-F238E27FC236}">
                  <a16:creationId xmlns:a16="http://schemas.microsoft.com/office/drawing/2014/main" id="{E6335B66-F653-3F54-5E34-0AFC75707DDD}"/>
                </a:ext>
              </a:extLst>
            </p:cNvPr>
            <p:cNvSpPr/>
            <p:nvPr/>
          </p:nvSpPr>
          <p:spPr bwMode="auto">
            <a:xfrm>
              <a:off x="7982579" y="2377977"/>
              <a:ext cx="2156179" cy="2156179"/>
            </a:xfrm>
            <a:custGeom>
              <a:avLst/>
              <a:gdLst>
                <a:gd name="connsiteX0" fmla="*/ 1371600 w 2743200"/>
                <a:gd name="connsiteY0" fmla="*/ 684201 h 2743200"/>
                <a:gd name="connsiteX1" fmla="*/ 685800 w 2743200"/>
                <a:gd name="connsiteY1" fmla="*/ 1370001 h 2743200"/>
                <a:gd name="connsiteX2" fmla="*/ 1371600 w 2743200"/>
                <a:gd name="connsiteY2" fmla="*/ 2055801 h 2743200"/>
                <a:gd name="connsiteX3" fmla="*/ 2057400 w 2743200"/>
                <a:gd name="connsiteY3" fmla="*/ 1370001 h 2743200"/>
                <a:gd name="connsiteX4" fmla="*/ 1371600 w 2743200"/>
                <a:gd name="connsiteY4" fmla="*/ 684201 h 2743200"/>
                <a:gd name="connsiteX5" fmla="*/ 1371600 w 2743200"/>
                <a:gd name="connsiteY5" fmla="*/ 0 h 2743200"/>
                <a:gd name="connsiteX6" fmla="*/ 2743200 w 2743200"/>
                <a:gd name="connsiteY6" fmla="*/ 1371600 h 2743200"/>
                <a:gd name="connsiteX7" fmla="*/ 1371600 w 2743200"/>
                <a:gd name="connsiteY7" fmla="*/ 2743200 h 2743200"/>
                <a:gd name="connsiteX8" fmla="*/ 0 w 2743200"/>
                <a:gd name="connsiteY8" fmla="*/ 1371600 h 2743200"/>
                <a:gd name="connsiteX9" fmla="*/ 1371600 w 2743200"/>
                <a:gd name="connsiteY9"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43200" h="2743200">
                  <a:moveTo>
                    <a:pt x="1371600" y="684201"/>
                  </a:moveTo>
                  <a:cubicBezTo>
                    <a:pt x="992843" y="684201"/>
                    <a:pt x="685800" y="991244"/>
                    <a:pt x="685800" y="1370001"/>
                  </a:cubicBezTo>
                  <a:cubicBezTo>
                    <a:pt x="685800" y="1748758"/>
                    <a:pt x="992843" y="2055801"/>
                    <a:pt x="1371600" y="2055801"/>
                  </a:cubicBezTo>
                  <a:cubicBezTo>
                    <a:pt x="1750357" y="2055801"/>
                    <a:pt x="2057400" y="1748758"/>
                    <a:pt x="2057400" y="1370001"/>
                  </a:cubicBezTo>
                  <a:cubicBezTo>
                    <a:pt x="2057400" y="991244"/>
                    <a:pt x="1750357" y="684201"/>
                    <a:pt x="1371600" y="684201"/>
                  </a:cubicBezTo>
                  <a:close/>
                  <a:moveTo>
                    <a:pt x="1371600" y="0"/>
                  </a:moveTo>
                  <a:cubicBezTo>
                    <a:pt x="2129114" y="0"/>
                    <a:pt x="2743200" y="614086"/>
                    <a:pt x="2743200" y="1371600"/>
                  </a:cubicBezTo>
                  <a:cubicBezTo>
                    <a:pt x="2743200" y="2129114"/>
                    <a:pt x="2129114" y="2743200"/>
                    <a:pt x="1371600" y="2743200"/>
                  </a:cubicBezTo>
                  <a:cubicBezTo>
                    <a:pt x="614086" y="2743200"/>
                    <a:pt x="0" y="2129114"/>
                    <a:pt x="0" y="1371600"/>
                  </a:cubicBezTo>
                  <a:cubicBezTo>
                    <a:pt x="0" y="614086"/>
                    <a:pt x="614086" y="0"/>
                    <a:pt x="1371600" y="0"/>
                  </a:cubicBezTo>
                  <a:close/>
                </a:path>
              </a:pathLst>
            </a:custGeom>
            <a:solidFill>
              <a:srgbClr val="002D9C">
                <a:alpha val="55000"/>
              </a:srgbClr>
            </a:solidFill>
            <a:ln w="19050" cap="flat" cmpd="sng" algn="ctr">
              <a:noFill/>
              <a:prstDash val="solid"/>
              <a:headEnd type="none" w="med" len="med"/>
              <a:tailEnd type="none" w="med" len="med"/>
            </a:ln>
            <a:effectLst/>
          </p:spPr>
          <p:txBody>
            <a:bodyPr vert="horz" wrap="square" lIns="64160" tIns="64160" rIns="64160" bIns="64160" numCol="1" rtlCol="0" anchor="t" anchorCtr="0" compatLnSpc="1">
              <a:prstTxWarp prst="textNoShape">
                <a:avLst/>
              </a:prstTxWarp>
              <a:noAutofit/>
            </a:bodyPr>
            <a:lstStyle/>
            <a:p>
              <a:pPr marL="0" marR="0" lvl="0" indent="0" algn="l" defTabSz="641560" rtl="0" eaLnBrk="1" fontAlgn="base" latinLnBrk="0" hangingPunct="1">
                <a:lnSpc>
                  <a:spcPct val="100000"/>
                </a:lnSpc>
                <a:spcBef>
                  <a:spcPct val="0"/>
                </a:spcBef>
                <a:spcAft>
                  <a:spcPct val="0"/>
                </a:spcAft>
                <a:buClrTx/>
                <a:buSzTx/>
                <a:buFontTx/>
                <a:buNone/>
                <a:tabLst/>
                <a:defRPr/>
              </a:pPr>
              <a:endParaRPr kumimoji="0" lang="en-US" sz="982" b="0" i="0" u="none" strike="noStrike" kern="0" cap="none" spc="0" normalizeH="0" baseline="0" noProof="0">
                <a:ln>
                  <a:noFill/>
                </a:ln>
                <a:solidFill>
                  <a:srgbClr val="FFFFFF"/>
                </a:solidFill>
                <a:effectLst/>
                <a:uLnTx/>
                <a:uFillTx/>
                <a:latin typeface="IBM Plex Sans Light"/>
                <a:ea typeface="+mn-ea"/>
                <a:cs typeface="+mn-cs"/>
              </a:endParaRPr>
            </a:p>
          </p:txBody>
        </p:sp>
        <p:sp>
          <p:nvSpPr>
            <p:cNvPr id="16" name="Oval 15">
              <a:extLst>
                <a:ext uri="{FF2B5EF4-FFF2-40B4-BE49-F238E27FC236}">
                  <a16:creationId xmlns:a16="http://schemas.microsoft.com/office/drawing/2014/main" id="{FF2F1659-AF83-16DE-489A-548FD61CE374}"/>
                </a:ext>
              </a:extLst>
            </p:cNvPr>
            <p:cNvSpPr/>
            <p:nvPr/>
          </p:nvSpPr>
          <p:spPr bwMode="auto">
            <a:xfrm>
              <a:off x="8287035" y="2694166"/>
              <a:ext cx="1523802" cy="1523802"/>
            </a:xfrm>
            <a:prstGeom prst="ellipse">
              <a:avLst/>
            </a:prstGeom>
            <a:noFill/>
            <a:ln w="28575" cap="flat" cmpd="sng" algn="ctr">
              <a:solidFill>
                <a:srgbClr val="000000"/>
              </a:solidFill>
              <a:prstDash val="sysDot"/>
              <a:headEnd type="none" w="med" len="med"/>
              <a:tailEnd type="none" w="med" len="med"/>
            </a:ln>
            <a:effectLst/>
          </p:spPr>
          <p:txBody>
            <a:bodyPr vert="horz" wrap="square" lIns="76190" tIns="76190" rIns="76190" bIns="76190" numCol="1" rtlCol="0" anchor="t" anchorCtr="0" compatLnSpc="1">
              <a:prstTxWarp prst="textNoShape">
                <a:avLst/>
              </a:prstTxWarp>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sp>
          <p:nvSpPr>
            <p:cNvPr id="17" name="Freeform 49">
              <a:extLst>
                <a:ext uri="{FF2B5EF4-FFF2-40B4-BE49-F238E27FC236}">
                  <a16:creationId xmlns:a16="http://schemas.microsoft.com/office/drawing/2014/main" id="{7DB61273-259B-D4EF-AE8F-4C3CCC90ECE0}"/>
                </a:ext>
              </a:extLst>
            </p:cNvPr>
            <p:cNvSpPr>
              <a:spLocks noChangeAspect="1"/>
            </p:cNvSpPr>
            <p:nvPr/>
          </p:nvSpPr>
          <p:spPr bwMode="auto">
            <a:xfrm>
              <a:off x="10612475" y="992733"/>
              <a:ext cx="952376" cy="952376"/>
            </a:xfrm>
            <a:custGeom>
              <a:avLst/>
              <a:gdLst>
                <a:gd name="connsiteX0" fmla="*/ 685800 w 1371600"/>
                <a:gd name="connsiteY0" fmla="*/ 478282 h 1371600"/>
                <a:gd name="connsiteX1" fmla="*/ 457200 w 1371600"/>
                <a:gd name="connsiteY1" fmla="*/ 706882 h 1371600"/>
                <a:gd name="connsiteX2" fmla="*/ 685800 w 1371600"/>
                <a:gd name="connsiteY2" fmla="*/ 935482 h 1371600"/>
                <a:gd name="connsiteX3" fmla="*/ 914400 w 1371600"/>
                <a:gd name="connsiteY3" fmla="*/ 706882 h 1371600"/>
                <a:gd name="connsiteX4" fmla="*/ 685800 w 1371600"/>
                <a:gd name="connsiteY4" fmla="*/ 478282 h 1371600"/>
                <a:gd name="connsiteX5" fmla="*/ 685800 w 1371600"/>
                <a:gd name="connsiteY5" fmla="*/ 0 h 1371600"/>
                <a:gd name="connsiteX6" fmla="*/ 1371600 w 1371600"/>
                <a:gd name="connsiteY6" fmla="*/ 685800 h 1371600"/>
                <a:gd name="connsiteX7" fmla="*/ 685800 w 1371600"/>
                <a:gd name="connsiteY7" fmla="*/ 1371600 h 1371600"/>
                <a:gd name="connsiteX8" fmla="*/ 0 w 1371600"/>
                <a:gd name="connsiteY8" fmla="*/ 685800 h 1371600"/>
                <a:gd name="connsiteX9" fmla="*/ 685800 w 1371600"/>
                <a:gd name="connsiteY9"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685800" y="478282"/>
                  </a:moveTo>
                  <a:cubicBezTo>
                    <a:pt x="559548" y="478282"/>
                    <a:pt x="457200" y="580630"/>
                    <a:pt x="457200" y="706882"/>
                  </a:cubicBezTo>
                  <a:cubicBezTo>
                    <a:pt x="457200" y="833134"/>
                    <a:pt x="559548" y="935482"/>
                    <a:pt x="685800" y="935482"/>
                  </a:cubicBezTo>
                  <a:cubicBezTo>
                    <a:pt x="812052" y="935482"/>
                    <a:pt x="914400" y="833134"/>
                    <a:pt x="914400" y="706882"/>
                  </a:cubicBezTo>
                  <a:cubicBezTo>
                    <a:pt x="914400" y="580630"/>
                    <a:pt x="812052" y="478282"/>
                    <a:pt x="685800" y="478282"/>
                  </a:cubicBezTo>
                  <a:close/>
                  <a:moveTo>
                    <a:pt x="685800" y="0"/>
                  </a:moveTo>
                  <a:cubicBezTo>
                    <a:pt x="1064557" y="0"/>
                    <a:pt x="1371600" y="307043"/>
                    <a:pt x="1371600" y="685800"/>
                  </a:cubicBezTo>
                  <a:cubicBezTo>
                    <a:pt x="1371600" y="1064557"/>
                    <a:pt x="1064557" y="1371600"/>
                    <a:pt x="685800" y="1371600"/>
                  </a:cubicBezTo>
                  <a:cubicBezTo>
                    <a:pt x="307043" y="1371600"/>
                    <a:pt x="0" y="1064557"/>
                    <a:pt x="0" y="685800"/>
                  </a:cubicBezTo>
                  <a:cubicBezTo>
                    <a:pt x="0" y="307043"/>
                    <a:pt x="307043" y="0"/>
                    <a:pt x="685800" y="0"/>
                  </a:cubicBezTo>
                  <a:close/>
                </a:path>
              </a:pathLst>
            </a:custGeom>
            <a:solidFill>
              <a:srgbClr val="002D9C">
                <a:alpha val="65000"/>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002D9C"/>
                </a:solidFill>
                <a:effectLst/>
                <a:uLnTx/>
                <a:uFillTx/>
                <a:latin typeface="IBM Plex Sans Light"/>
                <a:ea typeface="+mn-ea"/>
                <a:cs typeface="+mn-cs"/>
              </a:endParaRPr>
            </a:p>
          </p:txBody>
        </p:sp>
        <p:sp>
          <p:nvSpPr>
            <p:cNvPr id="18" name="Freeform 50">
              <a:extLst>
                <a:ext uri="{FF2B5EF4-FFF2-40B4-BE49-F238E27FC236}">
                  <a16:creationId xmlns:a16="http://schemas.microsoft.com/office/drawing/2014/main" id="{9F6379A9-F079-4181-CF78-E16C51208BF0}"/>
                </a:ext>
              </a:extLst>
            </p:cNvPr>
            <p:cNvSpPr>
              <a:spLocks noChangeAspect="1"/>
            </p:cNvSpPr>
            <p:nvPr/>
          </p:nvSpPr>
          <p:spPr bwMode="auto">
            <a:xfrm>
              <a:off x="6540442" y="5022514"/>
              <a:ext cx="1066661" cy="1066661"/>
            </a:xfrm>
            <a:custGeom>
              <a:avLst/>
              <a:gdLst>
                <a:gd name="connsiteX0" fmla="*/ 685800 w 1371600"/>
                <a:gd name="connsiteY0" fmla="*/ 478282 h 1371600"/>
                <a:gd name="connsiteX1" fmla="*/ 457200 w 1371600"/>
                <a:gd name="connsiteY1" fmla="*/ 706882 h 1371600"/>
                <a:gd name="connsiteX2" fmla="*/ 685800 w 1371600"/>
                <a:gd name="connsiteY2" fmla="*/ 935482 h 1371600"/>
                <a:gd name="connsiteX3" fmla="*/ 914400 w 1371600"/>
                <a:gd name="connsiteY3" fmla="*/ 706882 h 1371600"/>
                <a:gd name="connsiteX4" fmla="*/ 685800 w 1371600"/>
                <a:gd name="connsiteY4" fmla="*/ 478282 h 1371600"/>
                <a:gd name="connsiteX5" fmla="*/ 685800 w 1371600"/>
                <a:gd name="connsiteY5" fmla="*/ 0 h 1371600"/>
                <a:gd name="connsiteX6" fmla="*/ 1371600 w 1371600"/>
                <a:gd name="connsiteY6" fmla="*/ 685800 h 1371600"/>
                <a:gd name="connsiteX7" fmla="*/ 685800 w 1371600"/>
                <a:gd name="connsiteY7" fmla="*/ 1371600 h 1371600"/>
                <a:gd name="connsiteX8" fmla="*/ 0 w 1371600"/>
                <a:gd name="connsiteY8" fmla="*/ 685800 h 1371600"/>
                <a:gd name="connsiteX9" fmla="*/ 685800 w 1371600"/>
                <a:gd name="connsiteY9"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685800" y="478282"/>
                  </a:moveTo>
                  <a:cubicBezTo>
                    <a:pt x="559548" y="478282"/>
                    <a:pt x="457200" y="580630"/>
                    <a:pt x="457200" y="706882"/>
                  </a:cubicBezTo>
                  <a:cubicBezTo>
                    <a:pt x="457200" y="833134"/>
                    <a:pt x="559548" y="935482"/>
                    <a:pt x="685800" y="935482"/>
                  </a:cubicBezTo>
                  <a:cubicBezTo>
                    <a:pt x="812052" y="935482"/>
                    <a:pt x="914400" y="833134"/>
                    <a:pt x="914400" y="706882"/>
                  </a:cubicBezTo>
                  <a:cubicBezTo>
                    <a:pt x="914400" y="580630"/>
                    <a:pt x="812052" y="478282"/>
                    <a:pt x="685800" y="478282"/>
                  </a:cubicBezTo>
                  <a:close/>
                  <a:moveTo>
                    <a:pt x="685800" y="0"/>
                  </a:moveTo>
                  <a:cubicBezTo>
                    <a:pt x="1064557" y="0"/>
                    <a:pt x="1371600" y="307043"/>
                    <a:pt x="1371600" y="685800"/>
                  </a:cubicBezTo>
                  <a:cubicBezTo>
                    <a:pt x="1371600" y="1064557"/>
                    <a:pt x="1064557" y="1371600"/>
                    <a:pt x="685800" y="1371600"/>
                  </a:cubicBezTo>
                  <a:cubicBezTo>
                    <a:pt x="307043" y="1371600"/>
                    <a:pt x="0" y="1064557"/>
                    <a:pt x="0" y="685800"/>
                  </a:cubicBezTo>
                  <a:cubicBezTo>
                    <a:pt x="0" y="307043"/>
                    <a:pt x="307043" y="0"/>
                    <a:pt x="685800" y="0"/>
                  </a:cubicBezTo>
                  <a:close/>
                </a:path>
              </a:pathLst>
            </a:custGeom>
            <a:solidFill>
              <a:srgbClr val="33B1FF">
                <a:alpha val="60000"/>
              </a:srgbClr>
            </a:solidFill>
            <a:ln w="19050" cap="flat" cmpd="sng" algn="ctr">
              <a:noFill/>
              <a:prstDash val="solid"/>
              <a:headEnd type="none" w="med" len="med"/>
              <a:tailEnd type="none" w="med" len="med"/>
            </a:ln>
            <a:effectLst/>
          </p:spPr>
          <p:txBody>
            <a:bodyPr vert="horz" wrap="square" lIns="76190" tIns="76190" rIns="76190" bIns="76190" numCol="1" rtlCol="0" anchor="t" anchorCtr="0" compatLnSpc="1">
              <a:prstTxWarp prst="textNoShape">
                <a:avLst/>
              </a:prstTxWarp>
              <a:noAutofit/>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002D9C"/>
                </a:solidFill>
                <a:effectLst/>
                <a:uLnTx/>
                <a:uFillTx/>
                <a:latin typeface="IBM Plex Sans Light"/>
                <a:ea typeface="+mn-ea"/>
                <a:cs typeface="+mn-cs"/>
              </a:endParaRPr>
            </a:p>
          </p:txBody>
        </p:sp>
        <p:cxnSp>
          <p:nvCxnSpPr>
            <p:cNvPr id="19" name="Straight Connector 18">
              <a:extLst>
                <a:ext uri="{FF2B5EF4-FFF2-40B4-BE49-F238E27FC236}">
                  <a16:creationId xmlns:a16="http://schemas.microsoft.com/office/drawing/2014/main" id="{2812AF20-9684-023A-345C-D40FED87FC07}"/>
                </a:ext>
              </a:extLst>
            </p:cNvPr>
            <p:cNvCxnSpPr>
              <a:cxnSpLocks/>
            </p:cNvCxnSpPr>
            <p:nvPr/>
          </p:nvCxnSpPr>
          <p:spPr bwMode="auto">
            <a:xfrm flipV="1">
              <a:off x="10026103" y="1774461"/>
              <a:ext cx="696608" cy="751166"/>
            </a:xfrm>
            <a:prstGeom prst="line">
              <a:avLst/>
            </a:prstGeom>
            <a:noFill/>
            <a:ln w="38100" cap="flat" cmpd="sng" algn="ctr">
              <a:solidFill>
                <a:srgbClr val="000000"/>
              </a:solidFill>
              <a:prstDash val="solid"/>
              <a:headEnd type="none" w="med" len="med"/>
              <a:tailEnd type="none" w="med" len="med"/>
            </a:ln>
            <a:effectLst/>
          </p:spPr>
        </p:cxnSp>
        <p:cxnSp>
          <p:nvCxnSpPr>
            <p:cNvPr id="20" name="Straight Connector 19">
              <a:extLst>
                <a:ext uri="{FF2B5EF4-FFF2-40B4-BE49-F238E27FC236}">
                  <a16:creationId xmlns:a16="http://schemas.microsoft.com/office/drawing/2014/main" id="{4CFB5732-7E9C-F3E9-2F51-7F3848E8260E}"/>
                </a:ext>
              </a:extLst>
            </p:cNvPr>
            <p:cNvCxnSpPr>
              <a:cxnSpLocks noChangeAspect="1"/>
            </p:cNvCxnSpPr>
            <p:nvPr/>
          </p:nvCxnSpPr>
          <p:spPr bwMode="auto">
            <a:xfrm flipV="1">
              <a:off x="7477522" y="4446306"/>
              <a:ext cx="728524" cy="771069"/>
            </a:xfrm>
            <a:prstGeom prst="line">
              <a:avLst/>
            </a:prstGeom>
            <a:noFill/>
            <a:ln w="38100" cap="flat" cmpd="sng" algn="ctr">
              <a:solidFill>
                <a:srgbClr val="000000"/>
              </a:solidFill>
              <a:prstDash val="solid"/>
              <a:headEnd type="none" w="med" len="med"/>
              <a:tailEnd type="none" w="med" len="med"/>
            </a:ln>
            <a:effectLst/>
          </p:spPr>
        </p:cxnSp>
        <p:sp>
          <p:nvSpPr>
            <p:cNvPr id="21" name="Freeform 55">
              <a:extLst>
                <a:ext uri="{FF2B5EF4-FFF2-40B4-BE49-F238E27FC236}">
                  <a16:creationId xmlns:a16="http://schemas.microsoft.com/office/drawing/2014/main" id="{E09DA326-CFA9-5929-2380-BFEDED3389FF}"/>
                </a:ext>
              </a:extLst>
            </p:cNvPr>
            <p:cNvSpPr>
              <a:spLocks noChangeAspect="1"/>
            </p:cNvSpPr>
            <p:nvPr/>
          </p:nvSpPr>
          <p:spPr bwMode="auto">
            <a:xfrm>
              <a:off x="10554738" y="935590"/>
              <a:ext cx="1066661" cy="1066661"/>
            </a:xfrm>
            <a:custGeom>
              <a:avLst/>
              <a:gdLst>
                <a:gd name="connsiteX0" fmla="*/ 1371600 w 2743200"/>
                <a:gd name="connsiteY0" fmla="*/ 409300 h 2743200"/>
                <a:gd name="connsiteX1" fmla="*/ 411480 w 2743200"/>
                <a:gd name="connsiteY1" fmla="*/ 1369420 h 2743200"/>
                <a:gd name="connsiteX2" fmla="*/ 1371600 w 2743200"/>
                <a:gd name="connsiteY2" fmla="*/ 2329540 h 2743200"/>
                <a:gd name="connsiteX3" fmla="*/ 2331720 w 2743200"/>
                <a:gd name="connsiteY3" fmla="*/ 1369420 h 2743200"/>
                <a:gd name="connsiteX4" fmla="*/ 1371600 w 2743200"/>
                <a:gd name="connsiteY4" fmla="*/ 409300 h 2743200"/>
                <a:gd name="connsiteX5" fmla="*/ 1371600 w 2743200"/>
                <a:gd name="connsiteY5" fmla="*/ 0 h 2743200"/>
                <a:gd name="connsiteX6" fmla="*/ 2743200 w 2743200"/>
                <a:gd name="connsiteY6" fmla="*/ 1371600 h 2743200"/>
                <a:gd name="connsiteX7" fmla="*/ 1371600 w 2743200"/>
                <a:gd name="connsiteY7" fmla="*/ 2743200 h 2743200"/>
                <a:gd name="connsiteX8" fmla="*/ 0 w 2743200"/>
                <a:gd name="connsiteY8" fmla="*/ 1371600 h 2743200"/>
                <a:gd name="connsiteX9" fmla="*/ 1371600 w 2743200"/>
                <a:gd name="connsiteY9"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43200" h="2743200">
                  <a:moveTo>
                    <a:pt x="1371600" y="409300"/>
                  </a:moveTo>
                  <a:cubicBezTo>
                    <a:pt x="841340" y="409300"/>
                    <a:pt x="411480" y="839160"/>
                    <a:pt x="411480" y="1369420"/>
                  </a:cubicBezTo>
                  <a:cubicBezTo>
                    <a:pt x="411480" y="1899680"/>
                    <a:pt x="841340" y="2329540"/>
                    <a:pt x="1371600" y="2329540"/>
                  </a:cubicBezTo>
                  <a:cubicBezTo>
                    <a:pt x="1901860" y="2329540"/>
                    <a:pt x="2331720" y="1899680"/>
                    <a:pt x="2331720" y="1369420"/>
                  </a:cubicBezTo>
                  <a:cubicBezTo>
                    <a:pt x="2331720" y="839160"/>
                    <a:pt x="1901860" y="409300"/>
                    <a:pt x="1371600" y="409300"/>
                  </a:cubicBezTo>
                  <a:close/>
                  <a:moveTo>
                    <a:pt x="1371600" y="0"/>
                  </a:moveTo>
                  <a:cubicBezTo>
                    <a:pt x="2129114" y="0"/>
                    <a:pt x="2743200" y="614086"/>
                    <a:pt x="2743200" y="1371600"/>
                  </a:cubicBezTo>
                  <a:cubicBezTo>
                    <a:pt x="2743200" y="2129114"/>
                    <a:pt x="2129114" y="2743200"/>
                    <a:pt x="1371600" y="2743200"/>
                  </a:cubicBezTo>
                  <a:cubicBezTo>
                    <a:pt x="614086" y="2743200"/>
                    <a:pt x="0" y="2129114"/>
                    <a:pt x="0" y="1371600"/>
                  </a:cubicBezTo>
                  <a:cubicBezTo>
                    <a:pt x="0" y="614086"/>
                    <a:pt x="614086" y="0"/>
                    <a:pt x="1371600" y="0"/>
                  </a:cubicBezTo>
                  <a:close/>
                </a:path>
              </a:pathLst>
            </a:custGeom>
            <a:solidFill>
              <a:srgbClr val="82CFFF">
                <a:alpha val="60000"/>
              </a:srgbClr>
            </a:solidFill>
            <a:ln w="19050" cap="flat" cmpd="sng" algn="ctr">
              <a:noFill/>
              <a:prstDash val="solid"/>
              <a:headEnd type="none" w="med" len="med"/>
              <a:tailEnd type="none" w="med" len="med"/>
            </a:ln>
            <a:effectLst/>
          </p:spPr>
          <p:txBody>
            <a:bodyPr vert="horz" wrap="square" lIns="64160" tIns="64160" rIns="64160" bIns="64160" numCol="1" rtlCol="0" anchor="t" anchorCtr="0" compatLnSpc="1">
              <a:prstTxWarp prst="textNoShape">
                <a:avLst/>
              </a:prstTxWarp>
              <a:noAutofit/>
            </a:bodyPr>
            <a:lstStyle/>
            <a:p>
              <a:pPr marL="0" marR="0" lvl="0" indent="0" algn="l" defTabSz="641560" rtl="0" eaLnBrk="1" fontAlgn="base" latinLnBrk="0" hangingPunct="1">
                <a:lnSpc>
                  <a:spcPct val="100000"/>
                </a:lnSpc>
                <a:spcBef>
                  <a:spcPct val="0"/>
                </a:spcBef>
                <a:spcAft>
                  <a:spcPct val="0"/>
                </a:spcAft>
                <a:buClrTx/>
                <a:buSzTx/>
                <a:buFontTx/>
                <a:buNone/>
                <a:tabLst/>
                <a:defRPr/>
              </a:pPr>
              <a:endParaRPr kumimoji="0" lang="en-US" sz="982" b="0" i="0" u="none" strike="noStrike" kern="0" cap="none" spc="0" normalizeH="0" baseline="0" noProof="0">
                <a:ln>
                  <a:noFill/>
                </a:ln>
                <a:solidFill>
                  <a:srgbClr val="FFFFFF"/>
                </a:solidFill>
                <a:effectLst/>
                <a:uLnTx/>
                <a:uFillTx/>
                <a:latin typeface="IBM Plex Sans Light"/>
                <a:ea typeface="+mn-ea"/>
                <a:cs typeface="+mn-cs"/>
              </a:endParaRPr>
            </a:p>
          </p:txBody>
        </p:sp>
        <p:sp>
          <p:nvSpPr>
            <p:cNvPr id="22" name="Oval 21">
              <a:extLst>
                <a:ext uri="{FF2B5EF4-FFF2-40B4-BE49-F238E27FC236}">
                  <a16:creationId xmlns:a16="http://schemas.microsoft.com/office/drawing/2014/main" id="{F24FFE6D-8C49-1F36-2BE8-44A04F8AB984}"/>
                </a:ext>
              </a:extLst>
            </p:cNvPr>
            <p:cNvSpPr/>
            <p:nvPr/>
          </p:nvSpPr>
          <p:spPr bwMode="auto">
            <a:xfrm>
              <a:off x="6535905" y="5018725"/>
              <a:ext cx="1066661" cy="1066661"/>
            </a:xfrm>
            <a:prstGeom prst="ellipse">
              <a:avLst/>
            </a:prstGeom>
            <a:noFill/>
            <a:ln w="38100" cap="flat" cmpd="sng" algn="ctr">
              <a:solidFill>
                <a:srgbClr val="000000"/>
              </a:solidFill>
              <a:prstDash val="solid"/>
              <a:headEnd type="none" w="med" len="med"/>
              <a:tailEnd type="none" w="med" len="med"/>
            </a:ln>
            <a:effectLst/>
          </p:spPr>
          <p:txBody>
            <a:bodyPr vert="horz" wrap="square" lIns="76190" tIns="76190" rIns="76190" bIns="76190" numCol="1" rtlCol="0" anchor="t" anchorCtr="0" compatLnSpc="1">
              <a:prstTxWarp prst="textNoShape">
                <a:avLst/>
              </a:prstTxWarp>
            </a:bodyPr>
            <a:lstStyle/>
            <a:p>
              <a:pPr marL="0" marR="0" lvl="0" indent="0" algn="l" defTabSz="761857" rtl="0" eaLnBrk="1" fontAlgn="base" latinLnBrk="0" hangingPunct="1">
                <a:lnSpc>
                  <a:spcPct val="100000"/>
                </a:lnSpc>
                <a:spcBef>
                  <a:spcPct val="0"/>
                </a:spcBef>
                <a:spcAft>
                  <a:spcPct val="0"/>
                </a:spcAft>
                <a:buClrTx/>
                <a:buSzTx/>
                <a:buFontTx/>
                <a:buNone/>
                <a:tabLst/>
                <a:defRPr/>
              </a:pPr>
              <a:endParaRPr kumimoji="0" lang="en-US" sz="1166" b="0" i="0" u="none" strike="noStrike" kern="0" cap="none" spc="0" normalizeH="0" baseline="0" noProof="0">
                <a:ln>
                  <a:noFill/>
                </a:ln>
                <a:solidFill>
                  <a:srgbClr val="FFFFFF"/>
                </a:solidFill>
                <a:effectLst/>
                <a:uLnTx/>
                <a:uFillTx/>
                <a:latin typeface="IBM Plex Sans Light"/>
                <a:ea typeface="+mn-ea"/>
                <a:cs typeface="+mn-cs"/>
              </a:endParaRPr>
            </a:p>
          </p:txBody>
        </p:sp>
        <p:pic>
          <p:nvPicPr>
            <p:cNvPr id="23" name="Graphic 22">
              <a:extLst>
                <a:ext uri="{FF2B5EF4-FFF2-40B4-BE49-F238E27FC236}">
                  <a16:creationId xmlns:a16="http://schemas.microsoft.com/office/drawing/2014/main" id="{64910297-07C0-B7E1-8610-0824933D024A}"/>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921393" y="1402958"/>
              <a:ext cx="4267624" cy="4106221"/>
            </a:xfrm>
            <a:custGeom>
              <a:avLst/>
              <a:gdLst>
                <a:gd name="connsiteX0" fmla="*/ 3047542 w 5943600"/>
                <a:gd name="connsiteY0" fmla="*/ 1422617 h 5943600"/>
                <a:gd name="connsiteX1" fmla="*/ 1525107 w 5943600"/>
                <a:gd name="connsiteY1" fmla="*/ 2867648 h 5943600"/>
                <a:gd name="connsiteX2" fmla="*/ 3047542 w 5943600"/>
                <a:gd name="connsiteY2" fmla="*/ 4312679 h 5943600"/>
                <a:gd name="connsiteX3" fmla="*/ 4569977 w 5943600"/>
                <a:gd name="connsiteY3" fmla="*/ 2867648 h 5943600"/>
                <a:gd name="connsiteX4" fmla="*/ 3047542 w 5943600"/>
                <a:gd name="connsiteY4" fmla="*/ 1422617 h 5943600"/>
                <a:gd name="connsiteX5" fmla="*/ 0 w 5943600"/>
                <a:gd name="connsiteY5" fmla="*/ 0 h 5943600"/>
                <a:gd name="connsiteX6" fmla="*/ 5943600 w 5943600"/>
                <a:gd name="connsiteY6" fmla="*/ 0 h 5943600"/>
                <a:gd name="connsiteX7" fmla="*/ 5943600 w 5943600"/>
                <a:gd name="connsiteY7" fmla="*/ 5943600 h 5943600"/>
                <a:gd name="connsiteX8" fmla="*/ 0 w 5943600"/>
                <a:gd name="connsiteY8"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43600" h="5943600">
                  <a:moveTo>
                    <a:pt x="3047542" y="1422617"/>
                  </a:moveTo>
                  <a:cubicBezTo>
                    <a:pt x="2206724" y="1422617"/>
                    <a:pt x="1525107" y="2069579"/>
                    <a:pt x="1525107" y="2867648"/>
                  </a:cubicBezTo>
                  <a:cubicBezTo>
                    <a:pt x="1525107" y="3665717"/>
                    <a:pt x="2206724" y="4312679"/>
                    <a:pt x="3047542" y="4312679"/>
                  </a:cubicBezTo>
                  <a:cubicBezTo>
                    <a:pt x="3888360" y="4312679"/>
                    <a:pt x="4569977" y="3665717"/>
                    <a:pt x="4569977" y="2867648"/>
                  </a:cubicBezTo>
                  <a:cubicBezTo>
                    <a:pt x="4569977" y="2069579"/>
                    <a:pt x="3888360" y="1422617"/>
                    <a:pt x="3047542" y="1422617"/>
                  </a:cubicBezTo>
                  <a:close/>
                  <a:moveTo>
                    <a:pt x="0" y="0"/>
                  </a:moveTo>
                  <a:lnTo>
                    <a:pt x="5943600" y="0"/>
                  </a:lnTo>
                  <a:lnTo>
                    <a:pt x="5943600" y="5943600"/>
                  </a:lnTo>
                  <a:lnTo>
                    <a:pt x="0" y="5943600"/>
                  </a:lnTo>
                  <a:close/>
                </a:path>
              </a:pathLst>
            </a:custGeom>
          </p:spPr>
        </p:pic>
      </p:grpSp>
      <p:sp>
        <p:nvSpPr>
          <p:cNvPr id="27" name="Title 1">
            <a:extLst>
              <a:ext uri="{FF2B5EF4-FFF2-40B4-BE49-F238E27FC236}">
                <a16:creationId xmlns:a16="http://schemas.microsoft.com/office/drawing/2014/main" id="{C10F872F-F689-1CCE-F2B8-E5C045FF3304}"/>
              </a:ext>
            </a:extLst>
          </p:cNvPr>
          <p:cNvSpPr>
            <a:spLocks noGrp="1"/>
          </p:cNvSpPr>
          <p:nvPr>
            <p:ph type="title"/>
          </p:nvPr>
        </p:nvSpPr>
        <p:spPr>
          <a:xfrm>
            <a:off x="122650" y="1003250"/>
            <a:ext cx="4182650" cy="2730550"/>
          </a:xfrm>
        </p:spPr>
        <p:txBody>
          <a:bodyPr vert="horz" lIns="91440" tIns="45720" rIns="91440" bIns="45720" rtlCol="0" anchor="ctr">
            <a:noAutofit/>
          </a:bodyPr>
          <a:lstStyle/>
          <a:p>
            <a:r>
              <a:rPr lang="en-GB" sz="2400" dirty="0">
                <a:solidFill>
                  <a:srgbClr val="000000"/>
                </a:solidFill>
                <a:effectLst/>
                <a:latin typeface="IBM Plex Sans" panose="020B0503050203000203" pitchFamily="34" charset="0"/>
              </a:rPr>
              <a:t>An agentic solution to offer risk referral recommendations to underwriters, which is pre-trained on referral rules and guidelines applicable at both individual underwriters and company</a:t>
            </a:r>
            <a:r>
              <a:rPr lang="en-GB" sz="2400" dirty="0">
                <a:solidFill>
                  <a:srgbClr val="000000"/>
                </a:solidFill>
                <a:latin typeface="IBM Plex Sans" panose="020B0503050203000203" pitchFamily="34" charset="0"/>
              </a:rPr>
              <a:t> level.</a:t>
            </a:r>
            <a:endParaRPr lang="en-US" sz="2400" kern="1200" dirty="0">
              <a:latin typeface="IBM Plex Sans" panose="020B0503050203000203" pitchFamily="34" charset="0"/>
            </a:endParaRPr>
          </a:p>
        </p:txBody>
      </p:sp>
      <p:sp>
        <p:nvSpPr>
          <p:cNvPr id="45" name="TextBox 44">
            <a:extLst>
              <a:ext uri="{FF2B5EF4-FFF2-40B4-BE49-F238E27FC236}">
                <a16:creationId xmlns:a16="http://schemas.microsoft.com/office/drawing/2014/main" id="{C53D0FA1-04EF-7B74-1FB9-5B2978E74232}"/>
              </a:ext>
            </a:extLst>
          </p:cNvPr>
          <p:cNvSpPr txBox="1"/>
          <p:nvPr/>
        </p:nvSpPr>
        <p:spPr>
          <a:xfrm>
            <a:off x="5598036" y="319282"/>
            <a:ext cx="2445074" cy="338554"/>
          </a:xfrm>
          <a:prstGeom prst="rect">
            <a:avLst/>
          </a:prstGeom>
          <a:noFill/>
        </p:spPr>
        <p:txBody>
          <a:bodyPr wrap="square" rtlCol="0">
            <a:spAutoFit/>
          </a:bodyPr>
          <a:lstStyle/>
          <a:p>
            <a:r>
              <a:rPr lang="en-US" sz="1600" dirty="0">
                <a:solidFill>
                  <a:srgbClr val="0432FF"/>
                </a:solidFill>
                <a:latin typeface="IBM Plex Sans" panose="020B0503050203000203" pitchFamily="34" charset="0"/>
                <a:ea typeface="+mj-ea"/>
                <a:cs typeface="+mj-cs"/>
              </a:rPr>
              <a:t>AI Orchestrator Agent</a:t>
            </a:r>
          </a:p>
        </p:txBody>
      </p:sp>
      <p:sp>
        <p:nvSpPr>
          <p:cNvPr id="6" name="Slide Number Placeholder 1">
            <a:extLst>
              <a:ext uri="{FF2B5EF4-FFF2-40B4-BE49-F238E27FC236}">
                <a16:creationId xmlns:a16="http://schemas.microsoft.com/office/drawing/2014/main" id="{E5B59BD8-4C7E-C54B-3986-4078A8E0FE23}"/>
              </a:ext>
            </a:extLst>
          </p:cNvPr>
          <p:cNvSpPr txBox="1">
            <a:spLocks/>
          </p:cNvSpPr>
          <p:nvPr/>
        </p:nvSpPr>
        <p:spPr>
          <a:xfrm>
            <a:off x="11821885" y="6546817"/>
            <a:ext cx="242597" cy="20854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976FAB8-503F-1449-B144-4863CF14683B}" type="slidenum">
              <a:rPr lang="en-US" sz="700" smtClean="0"/>
              <a:pPr algn="r"/>
              <a:t>3</a:t>
            </a:fld>
            <a:endParaRPr lang="en-US" sz="700" dirty="0"/>
          </a:p>
        </p:txBody>
      </p:sp>
      <p:sp>
        <p:nvSpPr>
          <p:cNvPr id="7" name="TextBox 6">
            <a:extLst>
              <a:ext uri="{FF2B5EF4-FFF2-40B4-BE49-F238E27FC236}">
                <a16:creationId xmlns:a16="http://schemas.microsoft.com/office/drawing/2014/main" id="{4CD9BE4A-EAC6-D0EC-50C4-DDC152FC0621}"/>
              </a:ext>
            </a:extLst>
          </p:cNvPr>
          <p:cNvSpPr txBox="1"/>
          <p:nvPr/>
        </p:nvSpPr>
        <p:spPr>
          <a:xfrm>
            <a:off x="5516321" y="1677846"/>
            <a:ext cx="5751754" cy="338554"/>
          </a:xfrm>
          <a:prstGeom prst="rect">
            <a:avLst/>
          </a:prstGeom>
          <a:noFill/>
        </p:spPr>
        <p:txBody>
          <a:bodyPr wrap="square" rtlCol="0">
            <a:spAutoFit/>
          </a:bodyPr>
          <a:lstStyle/>
          <a:p>
            <a:r>
              <a:rPr lang="en-US" sz="1600" dirty="0">
                <a:solidFill>
                  <a:srgbClr val="0432FF"/>
                </a:solidFill>
                <a:latin typeface="IBM Plex Sans" panose="020B0503050203000203" pitchFamily="34" charset="0"/>
                <a:ea typeface="+mj-ea"/>
                <a:cs typeface="+mj-cs"/>
              </a:rPr>
              <a:t>Quote/Policy Agent (  </a:t>
            </a:r>
            <a:r>
              <a:rPr lang="en-US" sz="1600" u="sng" dirty="0">
                <a:solidFill>
                  <a:srgbClr val="0432FF"/>
                </a:solidFill>
                <a:latin typeface="IBM Plex Sans" panose="020B0503050203000203" pitchFamily="34" charset="0"/>
                <a:ea typeface="+mj-ea"/>
                <a:cs typeface="+mj-cs"/>
              </a:rPr>
              <a:t>Underwriter level </a:t>
            </a:r>
            <a:r>
              <a:rPr lang="en-US" sz="1600" dirty="0">
                <a:solidFill>
                  <a:srgbClr val="0432FF"/>
                </a:solidFill>
                <a:latin typeface="IBM Plex Sans" panose="020B0503050203000203" pitchFamily="34" charset="0"/>
                <a:ea typeface="+mj-ea"/>
                <a:cs typeface="+mj-cs"/>
              </a:rPr>
              <a:t>referral check) </a:t>
            </a:r>
          </a:p>
        </p:txBody>
      </p:sp>
      <p:sp>
        <p:nvSpPr>
          <p:cNvPr id="10" name="TextBox 9">
            <a:extLst>
              <a:ext uri="{FF2B5EF4-FFF2-40B4-BE49-F238E27FC236}">
                <a16:creationId xmlns:a16="http://schemas.microsoft.com/office/drawing/2014/main" id="{142030F1-BC17-C7C7-DDB5-B38FCFE6AFCD}"/>
              </a:ext>
            </a:extLst>
          </p:cNvPr>
          <p:cNvSpPr txBox="1"/>
          <p:nvPr/>
        </p:nvSpPr>
        <p:spPr>
          <a:xfrm>
            <a:off x="5606558" y="3482583"/>
            <a:ext cx="6356842" cy="338554"/>
          </a:xfrm>
          <a:prstGeom prst="rect">
            <a:avLst/>
          </a:prstGeom>
          <a:noFill/>
        </p:spPr>
        <p:txBody>
          <a:bodyPr wrap="square" rtlCol="0">
            <a:spAutoFit/>
          </a:bodyPr>
          <a:lstStyle/>
          <a:p>
            <a:r>
              <a:rPr lang="en-US" sz="1600" dirty="0">
                <a:solidFill>
                  <a:srgbClr val="0432FF"/>
                </a:solidFill>
                <a:latin typeface="IBM Plex Sans" panose="020B0503050203000203" pitchFamily="34" charset="0"/>
                <a:ea typeface="+mj-ea"/>
                <a:cs typeface="+mj-cs"/>
              </a:rPr>
              <a:t>Database Query Agent (  </a:t>
            </a:r>
            <a:r>
              <a:rPr lang="en-US" sz="1600" u="sng" dirty="0">
                <a:solidFill>
                  <a:srgbClr val="0432FF"/>
                </a:solidFill>
                <a:latin typeface="IBM Plex Sans" panose="020B0503050203000203" pitchFamily="34" charset="0"/>
                <a:ea typeface="+mj-ea"/>
                <a:cs typeface="+mj-cs"/>
              </a:rPr>
              <a:t>Underwriter level </a:t>
            </a:r>
            <a:r>
              <a:rPr lang="en-US" sz="1600" dirty="0">
                <a:solidFill>
                  <a:srgbClr val="0432FF"/>
                </a:solidFill>
                <a:latin typeface="IBM Plex Sans" panose="020B0503050203000203" pitchFamily="34" charset="0"/>
                <a:ea typeface="+mj-ea"/>
                <a:cs typeface="+mj-cs"/>
              </a:rPr>
              <a:t>referral check) </a:t>
            </a:r>
          </a:p>
        </p:txBody>
      </p:sp>
      <p:sp>
        <p:nvSpPr>
          <p:cNvPr id="13" name="TextBox 12">
            <a:extLst>
              <a:ext uri="{FF2B5EF4-FFF2-40B4-BE49-F238E27FC236}">
                <a16:creationId xmlns:a16="http://schemas.microsoft.com/office/drawing/2014/main" id="{2E87ABDF-6D4A-3445-5076-CF89C2188DF8}"/>
              </a:ext>
            </a:extLst>
          </p:cNvPr>
          <p:cNvSpPr txBox="1"/>
          <p:nvPr/>
        </p:nvSpPr>
        <p:spPr>
          <a:xfrm>
            <a:off x="5673233" y="5120883"/>
            <a:ext cx="6794992" cy="830997"/>
          </a:xfrm>
          <a:prstGeom prst="rect">
            <a:avLst/>
          </a:prstGeom>
          <a:noFill/>
        </p:spPr>
        <p:txBody>
          <a:bodyPr wrap="square" rtlCol="0">
            <a:spAutoFit/>
          </a:bodyPr>
          <a:lstStyle/>
          <a:p>
            <a:r>
              <a:rPr lang="en-US" sz="1600" dirty="0">
                <a:solidFill>
                  <a:srgbClr val="0432FF"/>
                </a:solidFill>
                <a:latin typeface="IBM Plex Sans" panose="020B0503050203000203" pitchFamily="34" charset="0"/>
                <a:ea typeface="+mj-ea"/>
                <a:cs typeface="+mj-cs"/>
              </a:rPr>
              <a:t>Rules &amp; Guidelines Agent ( </a:t>
            </a:r>
            <a:r>
              <a:rPr lang="en-US" sz="1600" u="sng" dirty="0">
                <a:solidFill>
                  <a:srgbClr val="0432FF"/>
                </a:solidFill>
                <a:latin typeface="IBM Plex Sans" panose="020B0503050203000203" pitchFamily="34" charset="0"/>
                <a:ea typeface="+mj-ea"/>
                <a:cs typeface="+mj-cs"/>
              </a:rPr>
              <a:t>Company level </a:t>
            </a:r>
            <a:r>
              <a:rPr lang="en-US" sz="1600" dirty="0">
                <a:solidFill>
                  <a:srgbClr val="0432FF"/>
                </a:solidFill>
                <a:latin typeface="IBM Plex Sans" panose="020B0503050203000203" pitchFamily="34" charset="0"/>
                <a:ea typeface="+mj-ea"/>
                <a:cs typeface="+mj-cs"/>
              </a:rPr>
              <a:t>referral check) </a:t>
            </a:r>
          </a:p>
          <a:p>
            <a:endParaRPr lang="en-US" sz="1600" dirty="0">
              <a:solidFill>
                <a:srgbClr val="0432FF"/>
              </a:solidFill>
              <a:latin typeface="IBM Plex Sans" panose="020B0503050203000203" pitchFamily="34" charset="0"/>
              <a:ea typeface="+mj-ea"/>
              <a:cs typeface="+mj-cs"/>
            </a:endParaRPr>
          </a:p>
          <a:p>
            <a:endParaRPr lang="en-US" sz="1600" dirty="0">
              <a:solidFill>
                <a:srgbClr val="0432FF"/>
              </a:solidFill>
              <a:latin typeface="IBM Plex Sans" panose="020B0503050203000203" pitchFamily="34" charset="0"/>
              <a:ea typeface="+mj-ea"/>
              <a:cs typeface="+mj-cs"/>
            </a:endParaRPr>
          </a:p>
        </p:txBody>
      </p:sp>
      <p:pic>
        <p:nvPicPr>
          <p:cNvPr id="28" name="Graphic 27" descr="Robot outline">
            <a:extLst>
              <a:ext uri="{FF2B5EF4-FFF2-40B4-BE49-F238E27FC236}">
                <a16:creationId xmlns:a16="http://schemas.microsoft.com/office/drawing/2014/main" id="{175FD752-2EE4-8AA4-4123-9AFA31959E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2500" y="180975"/>
            <a:ext cx="914400" cy="914400"/>
          </a:xfrm>
          <a:prstGeom prst="rect">
            <a:avLst/>
          </a:prstGeom>
        </p:spPr>
      </p:pic>
      <p:pic>
        <p:nvPicPr>
          <p:cNvPr id="29" name="Graphic 28" descr="Robot outline">
            <a:extLst>
              <a:ext uri="{FF2B5EF4-FFF2-40B4-BE49-F238E27FC236}">
                <a16:creationId xmlns:a16="http://schemas.microsoft.com/office/drawing/2014/main" id="{DF7962B0-9D3B-B96B-4844-D4F671DE03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91075" y="3390900"/>
            <a:ext cx="914400" cy="914400"/>
          </a:xfrm>
          <a:prstGeom prst="rect">
            <a:avLst/>
          </a:prstGeom>
        </p:spPr>
      </p:pic>
      <p:pic>
        <p:nvPicPr>
          <p:cNvPr id="30" name="Graphic 29" descr="Robot outline">
            <a:extLst>
              <a:ext uri="{FF2B5EF4-FFF2-40B4-BE49-F238E27FC236}">
                <a16:creationId xmlns:a16="http://schemas.microsoft.com/office/drawing/2014/main" id="{56EA5262-E130-1212-3135-D5425DAEA2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00600" y="5038725"/>
            <a:ext cx="914400" cy="914400"/>
          </a:xfrm>
          <a:prstGeom prst="rect">
            <a:avLst/>
          </a:prstGeom>
        </p:spPr>
      </p:pic>
      <p:pic>
        <p:nvPicPr>
          <p:cNvPr id="31" name="Graphic 30" descr="Robot outline">
            <a:extLst>
              <a:ext uri="{FF2B5EF4-FFF2-40B4-BE49-F238E27FC236}">
                <a16:creationId xmlns:a16="http://schemas.microsoft.com/office/drawing/2014/main" id="{303AE3EF-F78D-CC46-5D68-11338E5E51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52975" y="1552575"/>
            <a:ext cx="914400" cy="914400"/>
          </a:xfrm>
          <a:prstGeom prst="rect">
            <a:avLst/>
          </a:prstGeom>
        </p:spPr>
      </p:pic>
      <p:pic>
        <p:nvPicPr>
          <p:cNvPr id="33" name="Picture 32">
            <a:extLst>
              <a:ext uri="{FF2B5EF4-FFF2-40B4-BE49-F238E27FC236}">
                <a16:creationId xmlns:a16="http://schemas.microsoft.com/office/drawing/2014/main" id="{3415A4DC-3805-BD76-59CD-9531D820025E}"/>
              </a:ext>
            </a:extLst>
          </p:cNvPr>
          <p:cNvPicPr>
            <a:picLocks noChangeAspect="1"/>
          </p:cNvPicPr>
          <p:nvPr/>
        </p:nvPicPr>
        <p:blipFill>
          <a:blip r:embed="rId7"/>
          <a:stretch>
            <a:fillRect/>
          </a:stretch>
        </p:blipFill>
        <p:spPr>
          <a:xfrm>
            <a:off x="5787764" y="2368519"/>
            <a:ext cx="6223261" cy="739012"/>
          </a:xfrm>
          <a:prstGeom prst="rect">
            <a:avLst/>
          </a:prstGeom>
        </p:spPr>
      </p:pic>
      <p:sp>
        <p:nvSpPr>
          <p:cNvPr id="34" name="TextBox 33">
            <a:extLst>
              <a:ext uri="{FF2B5EF4-FFF2-40B4-BE49-F238E27FC236}">
                <a16:creationId xmlns:a16="http://schemas.microsoft.com/office/drawing/2014/main" id="{686CA16E-0FD9-5423-BE56-044006BD6AD3}"/>
              </a:ext>
            </a:extLst>
          </p:cNvPr>
          <p:cNvSpPr txBox="1"/>
          <p:nvPr/>
        </p:nvSpPr>
        <p:spPr>
          <a:xfrm>
            <a:off x="5705475" y="2057400"/>
            <a:ext cx="3193503" cy="246221"/>
          </a:xfrm>
          <a:prstGeom prst="rect">
            <a:avLst/>
          </a:prstGeom>
          <a:noFill/>
        </p:spPr>
        <p:txBody>
          <a:bodyPr wrap="none" rtlCol="0">
            <a:spAutoFit/>
          </a:bodyPr>
          <a:lstStyle/>
          <a:p>
            <a:r>
              <a:rPr lang="en-GB" sz="1000" dirty="0"/>
              <a:t>Check Policy Coverage guidelines for each underwriter</a:t>
            </a:r>
          </a:p>
        </p:txBody>
      </p:sp>
      <p:pic>
        <p:nvPicPr>
          <p:cNvPr id="36" name="Picture 35">
            <a:extLst>
              <a:ext uri="{FF2B5EF4-FFF2-40B4-BE49-F238E27FC236}">
                <a16:creationId xmlns:a16="http://schemas.microsoft.com/office/drawing/2014/main" id="{20D52418-F13C-E76B-FA2A-2E2FD457D64D}"/>
              </a:ext>
            </a:extLst>
          </p:cNvPr>
          <p:cNvPicPr>
            <a:picLocks noChangeAspect="1"/>
          </p:cNvPicPr>
          <p:nvPr/>
        </p:nvPicPr>
        <p:blipFill>
          <a:blip r:embed="rId8"/>
          <a:stretch>
            <a:fillRect/>
          </a:stretch>
        </p:blipFill>
        <p:spPr>
          <a:xfrm>
            <a:off x="9040328" y="5676900"/>
            <a:ext cx="2583626" cy="1104900"/>
          </a:xfrm>
          <a:prstGeom prst="rect">
            <a:avLst/>
          </a:prstGeom>
        </p:spPr>
      </p:pic>
      <p:sp>
        <p:nvSpPr>
          <p:cNvPr id="37" name="TextBox 36">
            <a:extLst>
              <a:ext uri="{FF2B5EF4-FFF2-40B4-BE49-F238E27FC236}">
                <a16:creationId xmlns:a16="http://schemas.microsoft.com/office/drawing/2014/main" id="{BFC8BA3E-9CFA-4E37-8884-0699486A304C}"/>
              </a:ext>
            </a:extLst>
          </p:cNvPr>
          <p:cNvSpPr txBox="1"/>
          <p:nvPr/>
        </p:nvSpPr>
        <p:spPr>
          <a:xfrm>
            <a:off x="9029700" y="5467350"/>
            <a:ext cx="1935145" cy="246221"/>
          </a:xfrm>
          <a:prstGeom prst="rect">
            <a:avLst/>
          </a:prstGeom>
          <a:noFill/>
        </p:spPr>
        <p:txBody>
          <a:bodyPr wrap="none" rtlCol="0">
            <a:spAutoFit/>
          </a:bodyPr>
          <a:lstStyle/>
          <a:p>
            <a:r>
              <a:rPr lang="en-GB" sz="1000" dirty="0"/>
              <a:t>Rules and Guiltiness Document</a:t>
            </a:r>
          </a:p>
        </p:txBody>
      </p:sp>
      <p:pic>
        <p:nvPicPr>
          <p:cNvPr id="39" name="Picture 38">
            <a:extLst>
              <a:ext uri="{FF2B5EF4-FFF2-40B4-BE49-F238E27FC236}">
                <a16:creationId xmlns:a16="http://schemas.microsoft.com/office/drawing/2014/main" id="{8D217DB5-6636-C991-6F2E-960CFFE941A3}"/>
              </a:ext>
            </a:extLst>
          </p:cNvPr>
          <p:cNvPicPr>
            <a:picLocks noChangeAspect="1"/>
          </p:cNvPicPr>
          <p:nvPr/>
        </p:nvPicPr>
        <p:blipFill>
          <a:blip r:embed="rId9"/>
          <a:stretch>
            <a:fillRect/>
          </a:stretch>
        </p:blipFill>
        <p:spPr>
          <a:xfrm>
            <a:off x="5997270" y="5743444"/>
            <a:ext cx="2163319" cy="933582"/>
          </a:xfrm>
          <a:prstGeom prst="rect">
            <a:avLst/>
          </a:prstGeom>
        </p:spPr>
      </p:pic>
      <p:sp>
        <p:nvSpPr>
          <p:cNvPr id="50" name="TextBox 49">
            <a:extLst>
              <a:ext uri="{FF2B5EF4-FFF2-40B4-BE49-F238E27FC236}">
                <a16:creationId xmlns:a16="http://schemas.microsoft.com/office/drawing/2014/main" id="{E0B14EE7-DF99-DC4C-7166-953D36364F4B}"/>
              </a:ext>
            </a:extLst>
          </p:cNvPr>
          <p:cNvSpPr txBox="1"/>
          <p:nvPr/>
        </p:nvSpPr>
        <p:spPr>
          <a:xfrm>
            <a:off x="5905500" y="5495925"/>
            <a:ext cx="2152650" cy="246221"/>
          </a:xfrm>
          <a:prstGeom prst="rect">
            <a:avLst/>
          </a:prstGeom>
          <a:noFill/>
        </p:spPr>
        <p:txBody>
          <a:bodyPr wrap="square" rtlCol="0">
            <a:spAutoFit/>
          </a:bodyPr>
          <a:lstStyle/>
          <a:p>
            <a:r>
              <a:rPr lang="en-GB" sz="1000" dirty="0"/>
              <a:t>Sustainability rating of Companies</a:t>
            </a:r>
          </a:p>
        </p:txBody>
      </p:sp>
      <p:pic>
        <p:nvPicPr>
          <p:cNvPr id="52" name="Picture 51">
            <a:extLst>
              <a:ext uri="{FF2B5EF4-FFF2-40B4-BE49-F238E27FC236}">
                <a16:creationId xmlns:a16="http://schemas.microsoft.com/office/drawing/2014/main" id="{7C264AE8-0C5E-07AE-B797-ED64A517EA24}"/>
              </a:ext>
            </a:extLst>
          </p:cNvPr>
          <p:cNvPicPr>
            <a:picLocks noChangeAspect="1"/>
          </p:cNvPicPr>
          <p:nvPr/>
        </p:nvPicPr>
        <p:blipFill>
          <a:blip r:embed="rId10"/>
          <a:stretch>
            <a:fillRect/>
          </a:stretch>
        </p:blipFill>
        <p:spPr>
          <a:xfrm>
            <a:off x="5778241" y="4121125"/>
            <a:ext cx="6342880" cy="612800"/>
          </a:xfrm>
          <a:prstGeom prst="rect">
            <a:avLst/>
          </a:prstGeom>
        </p:spPr>
      </p:pic>
      <p:sp>
        <p:nvSpPr>
          <p:cNvPr id="53" name="TextBox 52">
            <a:extLst>
              <a:ext uri="{FF2B5EF4-FFF2-40B4-BE49-F238E27FC236}">
                <a16:creationId xmlns:a16="http://schemas.microsoft.com/office/drawing/2014/main" id="{D4241B0F-49B9-75A1-0313-44F016C5EE06}"/>
              </a:ext>
            </a:extLst>
          </p:cNvPr>
          <p:cNvSpPr txBox="1"/>
          <p:nvPr/>
        </p:nvSpPr>
        <p:spPr>
          <a:xfrm>
            <a:off x="5705475" y="3886200"/>
            <a:ext cx="3171061" cy="246221"/>
          </a:xfrm>
          <a:prstGeom prst="rect">
            <a:avLst/>
          </a:prstGeom>
          <a:noFill/>
        </p:spPr>
        <p:txBody>
          <a:bodyPr wrap="none" rtlCol="0">
            <a:spAutoFit/>
          </a:bodyPr>
          <a:lstStyle/>
          <a:p>
            <a:r>
              <a:rPr lang="en-GB" sz="1000" dirty="0"/>
              <a:t>Check Policy Authority  guidelines for each underwriter</a:t>
            </a:r>
          </a:p>
        </p:txBody>
      </p:sp>
      <p:sp>
        <p:nvSpPr>
          <p:cNvPr id="54" name="TextBox 53">
            <a:extLst>
              <a:ext uri="{FF2B5EF4-FFF2-40B4-BE49-F238E27FC236}">
                <a16:creationId xmlns:a16="http://schemas.microsoft.com/office/drawing/2014/main" id="{4EDAA629-407A-012B-084F-7726A61B9D94}"/>
              </a:ext>
            </a:extLst>
          </p:cNvPr>
          <p:cNvSpPr txBox="1"/>
          <p:nvPr/>
        </p:nvSpPr>
        <p:spPr>
          <a:xfrm>
            <a:off x="5600700" y="819150"/>
            <a:ext cx="6684843" cy="246221"/>
          </a:xfrm>
          <a:prstGeom prst="rect">
            <a:avLst/>
          </a:prstGeom>
          <a:noFill/>
        </p:spPr>
        <p:txBody>
          <a:bodyPr wrap="none" rtlCol="0">
            <a:spAutoFit/>
          </a:bodyPr>
          <a:lstStyle/>
          <a:p>
            <a:r>
              <a:rPr lang="en-US" sz="1000" dirty="0">
                <a:solidFill>
                  <a:schemeClr val="tx1"/>
                </a:solidFill>
              </a:rPr>
              <a:t>Receives policies and user inputs, decides which agents to engage based on the query type and context, shows output</a:t>
            </a:r>
            <a:endParaRPr lang="en-GB" sz="1000" dirty="0"/>
          </a:p>
        </p:txBody>
      </p:sp>
      <p:sp>
        <p:nvSpPr>
          <p:cNvPr id="61" name="Rectangle 60">
            <a:extLst>
              <a:ext uri="{FF2B5EF4-FFF2-40B4-BE49-F238E27FC236}">
                <a16:creationId xmlns:a16="http://schemas.microsoft.com/office/drawing/2014/main" id="{C444F030-8523-C45E-D139-DC0244425023}"/>
              </a:ext>
            </a:extLst>
          </p:cNvPr>
          <p:cNvSpPr/>
          <p:nvPr/>
        </p:nvSpPr>
        <p:spPr>
          <a:xfrm>
            <a:off x="4514407" y="350431"/>
            <a:ext cx="311667" cy="28198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62" name="Rectangle 61">
            <a:extLst>
              <a:ext uri="{FF2B5EF4-FFF2-40B4-BE49-F238E27FC236}">
                <a16:creationId xmlns:a16="http://schemas.microsoft.com/office/drawing/2014/main" id="{A6BF795C-5F96-8965-2AC7-408315CD7528}"/>
              </a:ext>
            </a:extLst>
          </p:cNvPr>
          <p:cNvSpPr/>
          <p:nvPr/>
        </p:nvSpPr>
        <p:spPr>
          <a:xfrm>
            <a:off x="4526368" y="3526686"/>
            <a:ext cx="311667" cy="28198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63" name="Rectangle 62">
            <a:extLst>
              <a:ext uri="{FF2B5EF4-FFF2-40B4-BE49-F238E27FC236}">
                <a16:creationId xmlns:a16="http://schemas.microsoft.com/office/drawing/2014/main" id="{4540F34E-EF18-E066-4EDD-6671C24237D8}"/>
              </a:ext>
            </a:extLst>
          </p:cNvPr>
          <p:cNvSpPr/>
          <p:nvPr/>
        </p:nvSpPr>
        <p:spPr>
          <a:xfrm>
            <a:off x="4507983" y="1727790"/>
            <a:ext cx="311667" cy="281985"/>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64" name="Rectangle 63">
            <a:extLst>
              <a:ext uri="{FF2B5EF4-FFF2-40B4-BE49-F238E27FC236}">
                <a16:creationId xmlns:a16="http://schemas.microsoft.com/office/drawing/2014/main" id="{BE24CDC2-5BD8-ACF2-9D0F-FE6DF3F6E838}"/>
              </a:ext>
            </a:extLst>
          </p:cNvPr>
          <p:cNvSpPr/>
          <p:nvPr/>
        </p:nvSpPr>
        <p:spPr>
          <a:xfrm>
            <a:off x="4522160" y="5211946"/>
            <a:ext cx="311667" cy="281985"/>
          </a:xfrm>
          <a:prstGeom prst="rect">
            <a:avLst/>
          </a:prstGeom>
          <a:solidFill>
            <a:srgbClr val="3E7A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spTree>
    <p:extLst>
      <p:ext uri="{BB962C8B-B14F-4D97-AF65-F5344CB8AC3E}">
        <p14:creationId xmlns:p14="http://schemas.microsoft.com/office/powerpoint/2010/main" val="2744263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Graphic 1">
            <a:extLst>
              <a:ext uri="{FF2B5EF4-FFF2-40B4-BE49-F238E27FC236}">
                <a16:creationId xmlns:a16="http://schemas.microsoft.com/office/drawing/2014/main" id="{9E46DEE3-A883-9BFB-BBB6-8F40627A55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80" t="20776" b="4186"/>
          <a:stretch/>
        </p:blipFill>
        <p:spPr bwMode="auto">
          <a:xfrm>
            <a:off x="1105786" y="223287"/>
            <a:ext cx="10898373" cy="509315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88821720-79BE-6A0D-DC5F-DA3EE9C55EFC}"/>
              </a:ext>
            </a:extLst>
          </p:cNvPr>
          <p:cNvSpPr txBox="1">
            <a:spLocks/>
          </p:cNvSpPr>
          <p:nvPr/>
        </p:nvSpPr>
        <p:spPr>
          <a:xfrm>
            <a:off x="0" y="180977"/>
            <a:ext cx="6980449" cy="430887"/>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sym typeface="IBM Plex Sans Light"/>
              </a:rPr>
              <a:t>The Hackathon Solution</a:t>
            </a:r>
            <a:endParaRPr lang="en-US" sz="2800" b="0" kern="0" dirty="0">
              <a:solidFill>
                <a:schemeClr val="tx1"/>
              </a:solidFill>
              <a:latin typeface="IBM Plex Sans Light"/>
            </a:endParaRPr>
          </a:p>
        </p:txBody>
      </p:sp>
      <p:sp>
        <p:nvSpPr>
          <p:cNvPr id="11" name="Rectangle 10">
            <a:extLst>
              <a:ext uri="{FF2B5EF4-FFF2-40B4-BE49-F238E27FC236}">
                <a16:creationId xmlns:a16="http://schemas.microsoft.com/office/drawing/2014/main" id="{5A8C5F92-53EA-D4C0-4F1C-7A7F9FDA1490}"/>
              </a:ext>
            </a:extLst>
          </p:cNvPr>
          <p:cNvSpPr/>
          <p:nvPr/>
        </p:nvSpPr>
        <p:spPr>
          <a:xfrm>
            <a:off x="4781107" y="2083981"/>
            <a:ext cx="450112" cy="38277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12" name="Rectangle 11">
            <a:extLst>
              <a:ext uri="{FF2B5EF4-FFF2-40B4-BE49-F238E27FC236}">
                <a16:creationId xmlns:a16="http://schemas.microsoft.com/office/drawing/2014/main" id="{36DA000D-46BF-FA50-DACF-3295871E2EAD}"/>
              </a:ext>
            </a:extLst>
          </p:cNvPr>
          <p:cNvSpPr/>
          <p:nvPr/>
        </p:nvSpPr>
        <p:spPr>
          <a:xfrm>
            <a:off x="2217102" y="5442984"/>
            <a:ext cx="542267" cy="34733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1,5</a:t>
            </a:r>
          </a:p>
        </p:txBody>
      </p:sp>
      <p:sp>
        <p:nvSpPr>
          <p:cNvPr id="13" name="Rectangle 12">
            <a:extLst>
              <a:ext uri="{FF2B5EF4-FFF2-40B4-BE49-F238E27FC236}">
                <a16:creationId xmlns:a16="http://schemas.microsoft.com/office/drawing/2014/main" id="{6B895BCE-075C-F3A8-7D33-1B1D24A5FF8C}"/>
              </a:ext>
            </a:extLst>
          </p:cNvPr>
          <p:cNvSpPr/>
          <p:nvPr/>
        </p:nvSpPr>
        <p:spPr>
          <a:xfrm>
            <a:off x="7060018" y="450111"/>
            <a:ext cx="450112" cy="38277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14" name="Rectangle 13">
            <a:extLst>
              <a:ext uri="{FF2B5EF4-FFF2-40B4-BE49-F238E27FC236}">
                <a16:creationId xmlns:a16="http://schemas.microsoft.com/office/drawing/2014/main" id="{C04F29DB-887E-5BDB-FB80-0C08CD883D73}"/>
              </a:ext>
            </a:extLst>
          </p:cNvPr>
          <p:cNvSpPr/>
          <p:nvPr/>
        </p:nvSpPr>
        <p:spPr>
          <a:xfrm>
            <a:off x="8041758" y="3175590"/>
            <a:ext cx="450112" cy="382772"/>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15" name="Rectangle 14">
            <a:extLst>
              <a:ext uri="{FF2B5EF4-FFF2-40B4-BE49-F238E27FC236}">
                <a16:creationId xmlns:a16="http://schemas.microsoft.com/office/drawing/2014/main" id="{DA96985B-B15B-E04C-4497-4E1AECAEBDE9}"/>
              </a:ext>
            </a:extLst>
          </p:cNvPr>
          <p:cNvSpPr/>
          <p:nvPr/>
        </p:nvSpPr>
        <p:spPr>
          <a:xfrm>
            <a:off x="5769935" y="4040371"/>
            <a:ext cx="450112" cy="382772"/>
          </a:xfrm>
          <a:prstGeom prst="rect">
            <a:avLst/>
          </a:prstGeom>
          <a:solidFill>
            <a:srgbClr val="3E7A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sp>
        <p:nvSpPr>
          <p:cNvPr id="16" name="Rectangle 15">
            <a:extLst>
              <a:ext uri="{FF2B5EF4-FFF2-40B4-BE49-F238E27FC236}">
                <a16:creationId xmlns:a16="http://schemas.microsoft.com/office/drawing/2014/main" id="{1A4779A4-5802-25E4-8A8C-70868C6EEBE9}"/>
              </a:ext>
            </a:extLst>
          </p:cNvPr>
          <p:cNvSpPr/>
          <p:nvPr/>
        </p:nvSpPr>
        <p:spPr>
          <a:xfrm>
            <a:off x="4871031" y="5390706"/>
            <a:ext cx="450112" cy="382772"/>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17" name="Rectangle 16">
            <a:extLst>
              <a:ext uri="{FF2B5EF4-FFF2-40B4-BE49-F238E27FC236}">
                <a16:creationId xmlns:a16="http://schemas.microsoft.com/office/drawing/2014/main" id="{E38C7D7D-1578-1DE2-5D66-D8DC8DA28A0F}"/>
              </a:ext>
            </a:extLst>
          </p:cNvPr>
          <p:cNvSpPr/>
          <p:nvPr/>
        </p:nvSpPr>
        <p:spPr>
          <a:xfrm>
            <a:off x="7166338" y="5386054"/>
            <a:ext cx="450112" cy="38277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18" name="Rectangle 17">
            <a:extLst>
              <a:ext uri="{FF2B5EF4-FFF2-40B4-BE49-F238E27FC236}">
                <a16:creationId xmlns:a16="http://schemas.microsoft.com/office/drawing/2014/main" id="{015B1E0E-2E1F-9D43-1205-0654059E71EC}"/>
              </a:ext>
            </a:extLst>
          </p:cNvPr>
          <p:cNvSpPr/>
          <p:nvPr/>
        </p:nvSpPr>
        <p:spPr>
          <a:xfrm>
            <a:off x="9549804" y="5405547"/>
            <a:ext cx="450112" cy="382772"/>
          </a:xfrm>
          <a:prstGeom prst="rect">
            <a:avLst/>
          </a:prstGeom>
          <a:solidFill>
            <a:srgbClr val="3E7A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cxnSp>
        <p:nvCxnSpPr>
          <p:cNvPr id="20" name="Straight Connector 19">
            <a:extLst>
              <a:ext uri="{FF2B5EF4-FFF2-40B4-BE49-F238E27FC236}">
                <a16:creationId xmlns:a16="http://schemas.microsoft.com/office/drawing/2014/main" id="{28D56097-07A1-FD68-CB83-23D42DAA2377}"/>
              </a:ext>
            </a:extLst>
          </p:cNvPr>
          <p:cNvCxnSpPr>
            <a:cxnSpLocks/>
          </p:cNvCxnSpPr>
          <p:nvPr/>
        </p:nvCxnSpPr>
        <p:spPr>
          <a:xfrm>
            <a:off x="1666875" y="5310749"/>
            <a:ext cx="10572075" cy="0"/>
          </a:xfrm>
          <a:prstGeom prst="line">
            <a:avLst/>
          </a:prstGeom>
          <a:ln w="19050"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4ED59558-90D9-B7FC-013B-5C287A404936}"/>
              </a:ext>
            </a:extLst>
          </p:cNvPr>
          <p:cNvSpPr txBox="1"/>
          <p:nvPr/>
        </p:nvSpPr>
        <p:spPr>
          <a:xfrm>
            <a:off x="2819394" y="5501019"/>
            <a:ext cx="1544012" cy="253916"/>
          </a:xfrm>
          <a:prstGeom prst="rect">
            <a:avLst/>
          </a:prstGeom>
          <a:noFill/>
        </p:spPr>
        <p:txBody>
          <a:bodyPr wrap="none" rtlCol="0">
            <a:spAutoFit/>
          </a:bodyPr>
          <a:lstStyle/>
          <a:p>
            <a:r>
              <a:rPr lang="en-GB" sz="1050" dirty="0">
                <a:latin typeface="IBM Plex Sans" panose="020B0503050203000203" pitchFamily="34" charset="0"/>
              </a:rPr>
              <a:t>AI  Orchestrator Agent</a:t>
            </a:r>
          </a:p>
        </p:txBody>
      </p:sp>
      <p:sp>
        <p:nvSpPr>
          <p:cNvPr id="23" name="TextBox 22">
            <a:extLst>
              <a:ext uri="{FF2B5EF4-FFF2-40B4-BE49-F238E27FC236}">
                <a16:creationId xmlns:a16="http://schemas.microsoft.com/office/drawing/2014/main" id="{691F1467-1097-467A-FC2C-4B8C31F93ADA}"/>
              </a:ext>
            </a:extLst>
          </p:cNvPr>
          <p:cNvSpPr txBox="1"/>
          <p:nvPr/>
        </p:nvSpPr>
        <p:spPr>
          <a:xfrm>
            <a:off x="5349944" y="5474881"/>
            <a:ext cx="1351652" cy="253916"/>
          </a:xfrm>
          <a:prstGeom prst="rect">
            <a:avLst/>
          </a:prstGeom>
          <a:noFill/>
        </p:spPr>
        <p:txBody>
          <a:bodyPr wrap="none" rtlCol="0">
            <a:spAutoFit/>
          </a:bodyPr>
          <a:lstStyle/>
          <a:p>
            <a:r>
              <a:rPr lang="en-GB" sz="1050" dirty="0">
                <a:latin typeface="IBM Plex Sans" panose="020B0503050203000203" pitchFamily="34" charset="0"/>
              </a:rPr>
              <a:t>Quote/Policy Agent</a:t>
            </a:r>
          </a:p>
        </p:txBody>
      </p:sp>
      <p:sp>
        <p:nvSpPr>
          <p:cNvPr id="24" name="TextBox 23">
            <a:extLst>
              <a:ext uri="{FF2B5EF4-FFF2-40B4-BE49-F238E27FC236}">
                <a16:creationId xmlns:a16="http://schemas.microsoft.com/office/drawing/2014/main" id="{CE8B492D-DCA1-4964-7047-1D420BD9DA9D}"/>
              </a:ext>
            </a:extLst>
          </p:cNvPr>
          <p:cNvSpPr txBox="1"/>
          <p:nvPr/>
        </p:nvSpPr>
        <p:spPr>
          <a:xfrm>
            <a:off x="7566610" y="5499247"/>
            <a:ext cx="1577676" cy="253916"/>
          </a:xfrm>
          <a:prstGeom prst="rect">
            <a:avLst/>
          </a:prstGeom>
          <a:noFill/>
        </p:spPr>
        <p:txBody>
          <a:bodyPr wrap="none" rtlCol="0">
            <a:spAutoFit/>
          </a:bodyPr>
          <a:lstStyle/>
          <a:p>
            <a:r>
              <a:rPr lang="en-GB" sz="1050" dirty="0">
                <a:latin typeface="IBM Plex Sans" panose="020B0503050203000203" pitchFamily="34" charset="0"/>
              </a:rPr>
              <a:t>Data Base Query Agent</a:t>
            </a:r>
          </a:p>
        </p:txBody>
      </p:sp>
      <p:sp>
        <p:nvSpPr>
          <p:cNvPr id="25" name="TextBox 24">
            <a:extLst>
              <a:ext uri="{FF2B5EF4-FFF2-40B4-BE49-F238E27FC236}">
                <a16:creationId xmlns:a16="http://schemas.microsoft.com/office/drawing/2014/main" id="{DFDD9493-6B04-03D6-87F9-DE00E6D7AE07}"/>
              </a:ext>
            </a:extLst>
          </p:cNvPr>
          <p:cNvSpPr txBox="1"/>
          <p:nvPr/>
        </p:nvSpPr>
        <p:spPr>
          <a:xfrm>
            <a:off x="10046212" y="5461369"/>
            <a:ext cx="1710725" cy="253916"/>
          </a:xfrm>
          <a:prstGeom prst="rect">
            <a:avLst/>
          </a:prstGeom>
          <a:noFill/>
        </p:spPr>
        <p:txBody>
          <a:bodyPr wrap="none" rtlCol="0">
            <a:spAutoFit/>
          </a:bodyPr>
          <a:lstStyle/>
          <a:p>
            <a:r>
              <a:rPr lang="en-GB" sz="1050" dirty="0">
                <a:latin typeface="IBM Plex Sans" panose="020B0503050203000203" pitchFamily="34" charset="0"/>
              </a:rPr>
              <a:t>Rules &amp; Guidelines Agent</a:t>
            </a:r>
          </a:p>
        </p:txBody>
      </p:sp>
      <p:sp>
        <p:nvSpPr>
          <p:cNvPr id="26" name="Rectangle 25">
            <a:extLst>
              <a:ext uri="{FF2B5EF4-FFF2-40B4-BE49-F238E27FC236}">
                <a16:creationId xmlns:a16="http://schemas.microsoft.com/office/drawing/2014/main" id="{363CB9CB-E9FB-F686-A808-08C6FA0A4DC5}"/>
              </a:ext>
            </a:extLst>
          </p:cNvPr>
          <p:cNvSpPr/>
          <p:nvPr/>
        </p:nvSpPr>
        <p:spPr>
          <a:xfrm>
            <a:off x="10515600" y="2204483"/>
            <a:ext cx="450112" cy="38277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5</a:t>
            </a:r>
          </a:p>
        </p:txBody>
      </p:sp>
      <p:sp>
        <p:nvSpPr>
          <p:cNvPr id="27" name="Rectangle 26">
            <a:extLst>
              <a:ext uri="{FF2B5EF4-FFF2-40B4-BE49-F238E27FC236}">
                <a16:creationId xmlns:a16="http://schemas.microsoft.com/office/drawing/2014/main" id="{0864E7B7-71B3-4F7E-9997-1F7F75239E67}"/>
              </a:ext>
            </a:extLst>
          </p:cNvPr>
          <p:cNvSpPr/>
          <p:nvPr/>
        </p:nvSpPr>
        <p:spPr>
          <a:xfrm>
            <a:off x="2213787" y="5826642"/>
            <a:ext cx="2636875" cy="1031358"/>
          </a:xfrm>
          <a:prstGeom prst="rect">
            <a:avLst/>
          </a:prstGeom>
          <a:solidFill>
            <a:srgbClr val="FFFF99"/>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Font typeface="Arial" panose="020B0604020202020204" pitchFamily="34" charset="0"/>
              <a:buChar char="•"/>
            </a:pPr>
            <a:r>
              <a:rPr lang="en-US" sz="900" b="1" dirty="0">
                <a:solidFill>
                  <a:schemeClr val="tx1"/>
                </a:solidFill>
              </a:rPr>
              <a:t>Function</a:t>
            </a:r>
            <a:r>
              <a:rPr lang="en-US" sz="900" dirty="0">
                <a:solidFill>
                  <a:schemeClr val="tx1"/>
                </a:solidFill>
              </a:rPr>
              <a:t>: Receives policies and user inputs, decides which agents to engage based on the query type and context, shows output</a:t>
            </a:r>
          </a:p>
          <a:p>
            <a:pPr>
              <a:buFont typeface="Arial" panose="020B0604020202020204" pitchFamily="34" charset="0"/>
              <a:buChar char="•"/>
            </a:pPr>
            <a:r>
              <a:rPr lang="en-US" sz="900" dirty="0">
                <a:solidFill>
                  <a:schemeClr val="tx1"/>
                </a:solidFill>
              </a:rPr>
              <a:t>Routes the query to: Database Query Agent/ /Quote/Policy Agent / R&amp;Gs Agent  as required</a:t>
            </a:r>
            <a:endParaRPr lang="en-GB" dirty="0"/>
          </a:p>
        </p:txBody>
      </p:sp>
      <p:sp>
        <p:nvSpPr>
          <p:cNvPr id="28" name="Rectangle 27">
            <a:extLst>
              <a:ext uri="{FF2B5EF4-FFF2-40B4-BE49-F238E27FC236}">
                <a16:creationId xmlns:a16="http://schemas.microsoft.com/office/drawing/2014/main" id="{1BFC900C-49EF-1DDE-AB3B-8983913624BC}"/>
              </a:ext>
            </a:extLst>
          </p:cNvPr>
          <p:cNvSpPr/>
          <p:nvPr/>
        </p:nvSpPr>
        <p:spPr>
          <a:xfrm>
            <a:off x="4826074" y="5826642"/>
            <a:ext cx="2356884" cy="1031358"/>
          </a:xfrm>
          <a:prstGeom prst="rect">
            <a:avLst/>
          </a:prstGeom>
          <a:solidFill>
            <a:schemeClr val="accent3">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chemeClr val="tx1"/>
                </a:solidFill>
              </a:rPr>
              <a:t>Function- </a:t>
            </a:r>
            <a:r>
              <a:rPr lang="en-US" sz="900" dirty="0">
                <a:solidFill>
                  <a:schemeClr val="tx1"/>
                </a:solidFill>
              </a:rPr>
              <a:t>Extracts data from policy documents (e.g., sum insured, exclusions).</a:t>
            </a:r>
          </a:p>
          <a:p>
            <a:pPr>
              <a:buFont typeface="Arial" panose="020B0604020202020204" pitchFamily="34" charset="0"/>
              <a:buChar char="•"/>
            </a:pPr>
            <a:r>
              <a:rPr lang="en-US" sz="900" dirty="0">
                <a:solidFill>
                  <a:schemeClr val="tx1"/>
                </a:solidFill>
              </a:rPr>
              <a:t>Maps coverage to potential referral conditions.</a:t>
            </a:r>
            <a:endParaRPr lang="en-GB" sz="900" dirty="0">
              <a:solidFill>
                <a:schemeClr val="tx1"/>
              </a:solidFill>
            </a:endParaRPr>
          </a:p>
        </p:txBody>
      </p:sp>
      <p:sp>
        <p:nvSpPr>
          <p:cNvPr id="29" name="Rectangle 28">
            <a:extLst>
              <a:ext uri="{FF2B5EF4-FFF2-40B4-BE49-F238E27FC236}">
                <a16:creationId xmlns:a16="http://schemas.microsoft.com/office/drawing/2014/main" id="{9E9DED99-A8FC-439A-E09C-9CD34F488917}"/>
              </a:ext>
            </a:extLst>
          </p:cNvPr>
          <p:cNvSpPr/>
          <p:nvPr/>
        </p:nvSpPr>
        <p:spPr>
          <a:xfrm>
            <a:off x="7211311" y="5826642"/>
            <a:ext cx="2356884" cy="103135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chemeClr val="tx1"/>
                </a:solidFill>
              </a:rPr>
              <a:t>Function</a:t>
            </a:r>
            <a:r>
              <a:rPr lang="en-US" sz="900" dirty="0">
                <a:solidFill>
                  <a:schemeClr val="tx1"/>
                </a:solidFill>
              </a:rPr>
              <a:t>- Checks </a:t>
            </a:r>
            <a:r>
              <a:rPr lang="en-US" sz="900" b="1" dirty="0">
                <a:solidFill>
                  <a:schemeClr val="tx1"/>
                </a:solidFill>
              </a:rPr>
              <a:t>authority limits</a:t>
            </a:r>
            <a:r>
              <a:rPr lang="en-US" sz="900" dirty="0">
                <a:solidFill>
                  <a:schemeClr val="tx1"/>
                </a:solidFill>
              </a:rPr>
              <a:t>, rules, escalation needs.</a:t>
            </a:r>
          </a:p>
          <a:p>
            <a:pPr>
              <a:buFont typeface="Arial" panose="020B0604020202020204" pitchFamily="34" charset="0"/>
              <a:buChar char="•"/>
            </a:pPr>
            <a:r>
              <a:rPr lang="en-US" sz="900" dirty="0">
                <a:solidFill>
                  <a:schemeClr val="tx1"/>
                </a:solidFill>
              </a:rPr>
              <a:t>Returns structured flags (e.g., over authority threshold).</a:t>
            </a:r>
          </a:p>
          <a:p>
            <a:pPr algn="ctr"/>
            <a:endParaRPr lang="en-GB" sz="900" dirty="0">
              <a:solidFill>
                <a:schemeClr val="tx1"/>
              </a:solidFill>
            </a:endParaRPr>
          </a:p>
        </p:txBody>
      </p:sp>
      <p:sp>
        <p:nvSpPr>
          <p:cNvPr id="30" name="Rectangle 29">
            <a:extLst>
              <a:ext uri="{FF2B5EF4-FFF2-40B4-BE49-F238E27FC236}">
                <a16:creationId xmlns:a16="http://schemas.microsoft.com/office/drawing/2014/main" id="{0E370B9C-47FF-D122-E8F3-86A24A07DAA4}"/>
              </a:ext>
            </a:extLst>
          </p:cNvPr>
          <p:cNvSpPr/>
          <p:nvPr/>
        </p:nvSpPr>
        <p:spPr>
          <a:xfrm>
            <a:off x="9537405" y="5826642"/>
            <a:ext cx="2356884" cy="1031358"/>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b="1" dirty="0">
                <a:solidFill>
                  <a:schemeClr val="tx1"/>
                </a:solidFill>
              </a:rPr>
              <a:t>Function: </a:t>
            </a:r>
            <a:r>
              <a:rPr lang="en-GB" sz="900" dirty="0">
                <a:solidFill>
                  <a:schemeClr val="tx1"/>
                </a:solidFill>
              </a:rPr>
              <a:t>Reads codified rules/guidelines.</a:t>
            </a:r>
          </a:p>
          <a:p>
            <a:r>
              <a:rPr lang="en-GB" sz="900" dirty="0">
                <a:solidFill>
                  <a:schemeClr val="tx1"/>
                </a:solidFill>
              </a:rPr>
              <a:t>Extracts any special referral conditions (e.g., sustainability, industry-specific rules).</a:t>
            </a:r>
          </a:p>
          <a:p>
            <a:pPr algn="ctr"/>
            <a:endParaRPr lang="en-GB" dirty="0"/>
          </a:p>
        </p:txBody>
      </p:sp>
    </p:spTree>
    <p:extLst>
      <p:ext uri="{BB962C8B-B14F-4D97-AF65-F5344CB8AC3E}">
        <p14:creationId xmlns:p14="http://schemas.microsoft.com/office/powerpoint/2010/main" val="138558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23B2-4B39-F1F1-5D39-93E3012AA36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DFB1A28-7AA0-8F7E-E8BC-5567E6632F15}"/>
              </a:ext>
            </a:extLst>
          </p:cNvPr>
          <p:cNvSpPr txBox="1">
            <a:spLocks/>
          </p:cNvSpPr>
          <p:nvPr/>
        </p:nvSpPr>
        <p:spPr>
          <a:xfrm>
            <a:off x="295275" y="104777"/>
            <a:ext cx="6980449" cy="430887"/>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sym typeface="IBM Plex Sans Light"/>
              </a:rPr>
              <a:t>Architecture</a:t>
            </a:r>
            <a:endParaRPr lang="en-US" sz="2800" b="0" kern="0" dirty="0">
              <a:solidFill>
                <a:schemeClr val="tx1"/>
              </a:solidFill>
              <a:latin typeface="IBM Plex Sans Light"/>
            </a:endParaRPr>
          </a:p>
        </p:txBody>
      </p:sp>
      <p:sp>
        <p:nvSpPr>
          <p:cNvPr id="5" name="Rectangle 4">
            <a:extLst>
              <a:ext uri="{FF2B5EF4-FFF2-40B4-BE49-F238E27FC236}">
                <a16:creationId xmlns:a16="http://schemas.microsoft.com/office/drawing/2014/main" id="{5D31B02B-A70B-CCEB-7A36-0B7B9536C143}"/>
              </a:ext>
            </a:extLst>
          </p:cNvPr>
          <p:cNvSpPr/>
          <p:nvPr/>
        </p:nvSpPr>
        <p:spPr>
          <a:xfrm>
            <a:off x="848127" y="2448706"/>
            <a:ext cx="1717231" cy="1139475"/>
          </a:xfrm>
          <a:prstGeom prst="rect">
            <a:avLst/>
          </a:prstGeom>
          <a:noFill/>
          <a:ln w="19050" cap="flat" cmpd="sng" algn="ctr">
            <a:solidFill>
              <a:srgbClr val="7889FB">
                <a:shade val="50000"/>
              </a:srgbClr>
            </a:solidFill>
            <a:prstDash val="sysDash"/>
          </a:ln>
          <a:effectLst/>
        </p:spPr>
        <p:txBody>
          <a:bodyPr anchor="ctr"/>
          <a:lstStyle/>
          <a:p>
            <a:pPr algn="ctr" defTabSz="685800" eaLnBrk="0" fontAlgn="base" hangingPunct="0">
              <a:spcBef>
                <a:spcPct val="0"/>
              </a:spcBef>
              <a:spcAft>
                <a:spcPct val="0"/>
              </a:spcAft>
            </a:pPr>
            <a:endParaRPr lang="en-US" sz="1350" kern="0">
              <a:solidFill>
                <a:prstClr val="white"/>
              </a:solidFill>
              <a:latin typeface="Calibri" panose="020F0502020204030204"/>
              <a:cs typeface="Arial"/>
            </a:endParaRPr>
          </a:p>
        </p:txBody>
      </p:sp>
      <p:pic>
        <p:nvPicPr>
          <p:cNvPr id="7" name="Graphic 6" descr="Computer">
            <a:extLst>
              <a:ext uri="{FF2B5EF4-FFF2-40B4-BE49-F238E27FC236}">
                <a16:creationId xmlns:a16="http://schemas.microsoft.com/office/drawing/2014/main" id="{3373A0FA-ECF0-A431-ABEB-FE03347572A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08987" y="2724711"/>
            <a:ext cx="596038" cy="686049"/>
          </a:xfrm>
          <a:prstGeom prst="rect">
            <a:avLst/>
          </a:prstGeom>
        </p:spPr>
      </p:pic>
      <p:pic>
        <p:nvPicPr>
          <p:cNvPr id="9" name="Picture 8">
            <a:extLst>
              <a:ext uri="{FF2B5EF4-FFF2-40B4-BE49-F238E27FC236}">
                <a16:creationId xmlns:a16="http://schemas.microsoft.com/office/drawing/2014/main" id="{76D2D810-3AC6-EA2D-9D23-5D781D9EDF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5985" y="2840263"/>
            <a:ext cx="387606" cy="385844"/>
          </a:xfrm>
          <a:prstGeom prst="rect">
            <a:avLst/>
          </a:prstGeom>
        </p:spPr>
      </p:pic>
      <p:sp>
        <p:nvSpPr>
          <p:cNvPr id="10" name="TextBox 9">
            <a:extLst>
              <a:ext uri="{FF2B5EF4-FFF2-40B4-BE49-F238E27FC236}">
                <a16:creationId xmlns:a16="http://schemas.microsoft.com/office/drawing/2014/main" id="{3EA0267E-F431-AF22-0174-37AE4DFFE38F}"/>
              </a:ext>
            </a:extLst>
          </p:cNvPr>
          <p:cNvSpPr txBox="1"/>
          <p:nvPr/>
        </p:nvSpPr>
        <p:spPr>
          <a:xfrm>
            <a:off x="1034269" y="2463020"/>
            <a:ext cx="1456473" cy="230832"/>
          </a:xfrm>
          <a:prstGeom prst="rect">
            <a:avLst/>
          </a:prstGeom>
          <a:noFill/>
        </p:spPr>
        <p:txBody>
          <a:bodyPr wrap="square" rtlCol="0">
            <a:spAutoFit/>
          </a:bodyPr>
          <a:lstStyle>
            <a:defPPr>
              <a:defRPr lang="en-US"/>
            </a:defPPr>
            <a:lvl1pPr algn="ctr">
              <a:defRPr sz="900" b="1"/>
            </a:lvl1pPr>
          </a:lstStyle>
          <a:p>
            <a:r>
              <a:rPr lang="en-US" dirty="0">
                <a:solidFill>
                  <a:srgbClr val="0070C0"/>
                </a:solidFill>
              </a:rPr>
              <a:t>User Interface</a:t>
            </a:r>
          </a:p>
        </p:txBody>
      </p:sp>
      <p:pic>
        <p:nvPicPr>
          <p:cNvPr id="19" name="Picture 18">
            <a:extLst>
              <a:ext uri="{FF2B5EF4-FFF2-40B4-BE49-F238E27FC236}">
                <a16:creationId xmlns:a16="http://schemas.microsoft.com/office/drawing/2014/main" id="{4911B540-AB04-D0A5-FD6E-C39FAAFEB271}"/>
              </a:ext>
            </a:extLst>
          </p:cNvPr>
          <p:cNvPicPr>
            <a:picLocks noChangeAspect="1"/>
          </p:cNvPicPr>
          <p:nvPr/>
        </p:nvPicPr>
        <p:blipFill rotWithShape="1">
          <a:blip r:embed="rId5"/>
          <a:srcRect l="11653" r="22837" b="13778"/>
          <a:stretch/>
        </p:blipFill>
        <p:spPr>
          <a:xfrm>
            <a:off x="2856091" y="1967471"/>
            <a:ext cx="705971" cy="928550"/>
          </a:xfrm>
          <a:prstGeom prst="rect">
            <a:avLst/>
          </a:prstGeom>
        </p:spPr>
      </p:pic>
      <p:cxnSp>
        <p:nvCxnSpPr>
          <p:cNvPr id="21" name="Straight Arrow Connector 20">
            <a:extLst>
              <a:ext uri="{FF2B5EF4-FFF2-40B4-BE49-F238E27FC236}">
                <a16:creationId xmlns:a16="http://schemas.microsoft.com/office/drawing/2014/main" id="{67836D9A-AC01-8EF3-D065-AE790E1FF3C8}"/>
              </a:ext>
            </a:extLst>
          </p:cNvPr>
          <p:cNvCxnSpPr>
            <a:cxnSpLocks/>
          </p:cNvCxnSpPr>
          <p:nvPr/>
        </p:nvCxnSpPr>
        <p:spPr>
          <a:xfrm>
            <a:off x="2565358" y="3009963"/>
            <a:ext cx="1224427" cy="0"/>
          </a:xfrm>
          <a:prstGeom prst="straightConnector1">
            <a:avLst/>
          </a:prstGeom>
          <a:ln w="57150">
            <a:solidFill>
              <a:srgbClr val="7CCFC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D2EF373-317B-20A0-FADC-5C2A85B8F8DD}"/>
              </a:ext>
            </a:extLst>
          </p:cNvPr>
          <p:cNvSpPr txBox="1">
            <a:spLocks noChangeArrowheads="1"/>
          </p:cNvSpPr>
          <p:nvPr/>
        </p:nvSpPr>
        <p:spPr bwMode="auto">
          <a:xfrm>
            <a:off x="4709421" y="4045474"/>
            <a:ext cx="904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DB Agent</a:t>
            </a:r>
          </a:p>
        </p:txBody>
      </p:sp>
      <p:pic>
        <p:nvPicPr>
          <p:cNvPr id="32" name="Picture 31" descr="Azure Storage - Visual Studio Marketplace">
            <a:extLst>
              <a:ext uri="{FF2B5EF4-FFF2-40B4-BE49-F238E27FC236}">
                <a16:creationId xmlns:a16="http://schemas.microsoft.com/office/drawing/2014/main" id="{98987483-63D2-E8BE-6B13-7930A9CE342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0004" b="9365"/>
          <a:stretch/>
        </p:blipFill>
        <p:spPr bwMode="auto">
          <a:xfrm>
            <a:off x="4507477" y="876720"/>
            <a:ext cx="627219" cy="50573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311130B4-9519-4CFC-0C6A-5BE3E467A301}"/>
              </a:ext>
            </a:extLst>
          </p:cNvPr>
          <p:cNvSpPr txBox="1">
            <a:spLocks noChangeArrowheads="1"/>
          </p:cNvSpPr>
          <p:nvPr/>
        </p:nvSpPr>
        <p:spPr bwMode="auto">
          <a:xfrm>
            <a:off x="4360996" y="557926"/>
            <a:ext cx="9043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Policy Documents</a:t>
            </a:r>
          </a:p>
        </p:txBody>
      </p:sp>
      <p:pic>
        <p:nvPicPr>
          <p:cNvPr id="34" name="Picture 33" descr="Azure Storage - Visual Studio Marketplace">
            <a:extLst>
              <a:ext uri="{FF2B5EF4-FFF2-40B4-BE49-F238E27FC236}">
                <a16:creationId xmlns:a16="http://schemas.microsoft.com/office/drawing/2014/main" id="{6CC9DC22-0AA7-6126-C6E3-D173F5758B7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0004" b="9365"/>
          <a:stretch/>
        </p:blipFill>
        <p:spPr bwMode="auto">
          <a:xfrm>
            <a:off x="5606934" y="866421"/>
            <a:ext cx="627219" cy="50573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02B9DD54-69B0-2B56-EB6B-3B15099CC406}"/>
              </a:ext>
            </a:extLst>
          </p:cNvPr>
          <p:cNvSpPr txBox="1">
            <a:spLocks noChangeArrowheads="1"/>
          </p:cNvSpPr>
          <p:nvPr/>
        </p:nvSpPr>
        <p:spPr bwMode="auto">
          <a:xfrm>
            <a:off x="5468377" y="482733"/>
            <a:ext cx="9043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R&amp;G Document</a:t>
            </a:r>
          </a:p>
        </p:txBody>
      </p:sp>
      <p:pic>
        <p:nvPicPr>
          <p:cNvPr id="36" name="Picture 6" descr="Azure analysis services processing ...">
            <a:extLst>
              <a:ext uri="{FF2B5EF4-FFF2-40B4-BE49-F238E27FC236}">
                <a16:creationId xmlns:a16="http://schemas.microsoft.com/office/drawing/2014/main" id="{4C1E156E-0F95-CDA1-56C3-A072C1A171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1506" y="2647727"/>
            <a:ext cx="792265" cy="83205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Azure analysis services processing ...">
            <a:extLst>
              <a:ext uri="{FF2B5EF4-FFF2-40B4-BE49-F238E27FC236}">
                <a16:creationId xmlns:a16="http://schemas.microsoft.com/office/drawing/2014/main" id="{6C18B2B4-A441-803F-F169-0760659CF4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24410" y="3588181"/>
            <a:ext cx="792265" cy="832059"/>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F176C259-FF35-F863-B8C9-FFC1AFBD87C1}"/>
              </a:ext>
            </a:extLst>
          </p:cNvPr>
          <p:cNvSpPr txBox="1">
            <a:spLocks noChangeArrowheads="1"/>
          </p:cNvSpPr>
          <p:nvPr/>
        </p:nvSpPr>
        <p:spPr bwMode="auto">
          <a:xfrm>
            <a:off x="2810130" y="1759708"/>
            <a:ext cx="904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Prompts</a:t>
            </a:r>
          </a:p>
        </p:txBody>
      </p:sp>
      <p:sp>
        <p:nvSpPr>
          <p:cNvPr id="39" name="TextBox 38">
            <a:extLst>
              <a:ext uri="{FF2B5EF4-FFF2-40B4-BE49-F238E27FC236}">
                <a16:creationId xmlns:a16="http://schemas.microsoft.com/office/drawing/2014/main" id="{548DB1B9-41A9-83FE-399E-1D3AA596B958}"/>
              </a:ext>
            </a:extLst>
          </p:cNvPr>
          <p:cNvSpPr txBox="1">
            <a:spLocks noChangeArrowheads="1"/>
          </p:cNvSpPr>
          <p:nvPr/>
        </p:nvSpPr>
        <p:spPr bwMode="auto">
          <a:xfrm>
            <a:off x="4181187" y="3408373"/>
            <a:ext cx="9043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Orchestrator AI Agent</a:t>
            </a:r>
          </a:p>
        </p:txBody>
      </p:sp>
      <p:pic>
        <p:nvPicPr>
          <p:cNvPr id="40" name="Picture 2" descr="Microsoft Azure – Create Azure SQL ...">
            <a:extLst>
              <a:ext uri="{FF2B5EF4-FFF2-40B4-BE49-F238E27FC236}">
                <a16:creationId xmlns:a16="http://schemas.microsoft.com/office/drawing/2014/main" id="{48F0CE8A-7401-B604-0BCB-ED93B4A1E98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0715" t="17137" r="14443" b="19260"/>
          <a:stretch/>
        </p:blipFill>
        <p:spPr bwMode="auto">
          <a:xfrm>
            <a:off x="5596048" y="4999825"/>
            <a:ext cx="674549" cy="661664"/>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Straight Arrow Connector 40">
            <a:extLst>
              <a:ext uri="{FF2B5EF4-FFF2-40B4-BE49-F238E27FC236}">
                <a16:creationId xmlns:a16="http://schemas.microsoft.com/office/drawing/2014/main" id="{1A276D46-856A-27A9-1C78-24F40DA37ADD}"/>
              </a:ext>
            </a:extLst>
          </p:cNvPr>
          <p:cNvCxnSpPr>
            <a:cxnSpLocks/>
            <a:stCxn id="40" idx="0"/>
            <a:endCxn id="37" idx="2"/>
          </p:cNvCxnSpPr>
          <p:nvPr/>
        </p:nvCxnSpPr>
        <p:spPr>
          <a:xfrm flipH="1" flipV="1">
            <a:off x="5920543" y="4420240"/>
            <a:ext cx="12780" cy="57958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42" name="Picture 6" descr="Azure analysis services processing ...">
            <a:extLst>
              <a:ext uri="{FF2B5EF4-FFF2-40B4-BE49-F238E27FC236}">
                <a16:creationId xmlns:a16="http://schemas.microsoft.com/office/drawing/2014/main" id="{66284C1A-55D8-8B25-731B-4CDC4C6D02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5593" y="1790946"/>
            <a:ext cx="792265" cy="83205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2BD82382-7252-A26F-EF52-18AB6C7517C3}"/>
              </a:ext>
            </a:extLst>
          </p:cNvPr>
          <p:cNvSpPr txBox="1">
            <a:spLocks noChangeArrowheads="1"/>
          </p:cNvSpPr>
          <p:nvPr/>
        </p:nvSpPr>
        <p:spPr bwMode="auto">
          <a:xfrm>
            <a:off x="5920542" y="2668958"/>
            <a:ext cx="904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R&amp;G Agent</a:t>
            </a:r>
          </a:p>
        </p:txBody>
      </p:sp>
      <p:cxnSp>
        <p:nvCxnSpPr>
          <p:cNvPr id="44" name="Straight Arrow Connector 26">
            <a:extLst>
              <a:ext uri="{FF2B5EF4-FFF2-40B4-BE49-F238E27FC236}">
                <a16:creationId xmlns:a16="http://schemas.microsoft.com/office/drawing/2014/main" id="{D9AE1992-DD12-D0AB-FCD3-4EAC9172AFD4}"/>
              </a:ext>
            </a:extLst>
          </p:cNvPr>
          <p:cNvCxnSpPr>
            <a:stCxn id="32" idx="2"/>
            <a:endCxn id="42" idx="0"/>
          </p:cNvCxnSpPr>
          <p:nvPr/>
        </p:nvCxnSpPr>
        <p:spPr>
          <a:xfrm rot="16200000" flipH="1">
            <a:off x="4787159" y="1416379"/>
            <a:ext cx="408494" cy="34063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pic>
        <p:nvPicPr>
          <p:cNvPr id="45" name="Picture 6" descr="Azure analysis services processing ...">
            <a:extLst>
              <a:ext uri="{FF2B5EF4-FFF2-40B4-BE49-F238E27FC236}">
                <a16:creationId xmlns:a16="http://schemas.microsoft.com/office/drawing/2014/main" id="{6406D346-FD8F-71A3-2EED-8B8FB83E5E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3512" y="1800807"/>
            <a:ext cx="792265" cy="832059"/>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E42A9B4C-E29A-723A-C612-8F36B1B160C3}"/>
              </a:ext>
            </a:extLst>
          </p:cNvPr>
          <p:cNvSpPr txBox="1">
            <a:spLocks noChangeArrowheads="1"/>
          </p:cNvSpPr>
          <p:nvPr/>
        </p:nvSpPr>
        <p:spPr bwMode="auto">
          <a:xfrm>
            <a:off x="4709421" y="2652744"/>
            <a:ext cx="904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Policy Agent</a:t>
            </a:r>
          </a:p>
        </p:txBody>
      </p:sp>
      <p:cxnSp>
        <p:nvCxnSpPr>
          <p:cNvPr id="47" name="Straight Arrow Connector 31">
            <a:extLst>
              <a:ext uri="{FF2B5EF4-FFF2-40B4-BE49-F238E27FC236}">
                <a16:creationId xmlns:a16="http://schemas.microsoft.com/office/drawing/2014/main" id="{944281DA-DE2A-0A19-FEFB-757EDE45A6C6}"/>
              </a:ext>
            </a:extLst>
          </p:cNvPr>
          <p:cNvCxnSpPr>
            <a:stCxn id="34" idx="2"/>
            <a:endCxn id="45" idx="0"/>
          </p:cNvCxnSpPr>
          <p:nvPr/>
        </p:nvCxnSpPr>
        <p:spPr>
          <a:xfrm rot="16200000" flipH="1">
            <a:off x="5935767" y="1356929"/>
            <a:ext cx="428654" cy="45910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33">
            <a:extLst>
              <a:ext uri="{FF2B5EF4-FFF2-40B4-BE49-F238E27FC236}">
                <a16:creationId xmlns:a16="http://schemas.microsoft.com/office/drawing/2014/main" id="{579BC7D5-1820-3AF6-7B38-EB3D53D2052E}"/>
              </a:ext>
            </a:extLst>
          </p:cNvPr>
          <p:cNvCxnSpPr>
            <a:cxnSpLocks/>
            <a:stCxn id="37" idx="0"/>
            <a:endCxn id="43" idx="2"/>
          </p:cNvCxnSpPr>
          <p:nvPr/>
        </p:nvCxnSpPr>
        <p:spPr>
          <a:xfrm rot="5400000" flipH="1" flipV="1">
            <a:off x="5810124" y="3025598"/>
            <a:ext cx="673002" cy="452165"/>
          </a:xfrm>
          <a:prstGeom prst="bentConnector3">
            <a:avLst>
              <a:gd name="adj1" fmla="val 77497"/>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3">
            <a:extLst>
              <a:ext uri="{FF2B5EF4-FFF2-40B4-BE49-F238E27FC236}">
                <a16:creationId xmlns:a16="http://schemas.microsoft.com/office/drawing/2014/main" id="{EB852B4E-4E0B-DBB8-94CF-1FCA755400CB}"/>
              </a:ext>
            </a:extLst>
          </p:cNvPr>
          <p:cNvCxnSpPr>
            <a:cxnSpLocks/>
            <a:endCxn id="46" idx="2"/>
          </p:cNvCxnSpPr>
          <p:nvPr/>
        </p:nvCxnSpPr>
        <p:spPr>
          <a:xfrm flipV="1">
            <a:off x="4450538" y="2898965"/>
            <a:ext cx="711049" cy="168615"/>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33">
            <a:extLst>
              <a:ext uri="{FF2B5EF4-FFF2-40B4-BE49-F238E27FC236}">
                <a16:creationId xmlns:a16="http://schemas.microsoft.com/office/drawing/2014/main" id="{08F8D284-2D13-2836-6C14-AE6BCD0EF7C6}"/>
              </a:ext>
            </a:extLst>
          </p:cNvPr>
          <p:cNvCxnSpPr>
            <a:cxnSpLocks/>
            <a:endCxn id="37" idx="0"/>
          </p:cNvCxnSpPr>
          <p:nvPr/>
        </p:nvCxnSpPr>
        <p:spPr>
          <a:xfrm>
            <a:off x="4450538" y="3071099"/>
            <a:ext cx="1470005" cy="517082"/>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51" name="Picture 4" descr="Azure OpenAI Service | Discover AI use ...">
            <a:extLst>
              <a:ext uri="{FF2B5EF4-FFF2-40B4-BE49-F238E27FC236}">
                <a16:creationId xmlns:a16="http://schemas.microsoft.com/office/drawing/2014/main" id="{CFF0DAFB-974A-D7B8-EE5C-5351B5590F0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4536" b="17491"/>
          <a:stretch/>
        </p:blipFill>
        <p:spPr bwMode="auto">
          <a:xfrm>
            <a:off x="7811076" y="2840614"/>
            <a:ext cx="744028" cy="505732"/>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Straight Arrow Connector 33">
            <a:extLst>
              <a:ext uri="{FF2B5EF4-FFF2-40B4-BE49-F238E27FC236}">
                <a16:creationId xmlns:a16="http://schemas.microsoft.com/office/drawing/2014/main" id="{0709F065-45D1-7A79-86C8-576ED33E444C}"/>
              </a:ext>
            </a:extLst>
          </p:cNvPr>
          <p:cNvCxnSpPr>
            <a:cxnSpLocks/>
            <a:endCxn id="51" idx="1"/>
          </p:cNvCxnSpPr>
          <p:nvPr/>
        </p:nvCxnSpPr>
        <p:spPr>
          <a:xfrm>
            <a:off x="4360996" y="3061238"/>
            <a:ext cx="3450080" cy="3224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53" name="Picture 6" descr="ChatGPT - Wikipedia">
            <a:extLst>
              <a:ext uri="{FF2B5EF4-FFF2-40B4-BE49-F238E27FC236}">
                <a16:creationId xmlns:a16="http://schemas.microsoft.com/office/drawing/2014/main" id="{A14A1240-D1B6-B8ED-F56B-7FB42E419D9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57394" y="4004624"/>
            <a:ext cx="643280" cy="643280"/>
          </a:xfrm>
          <a:prstGeom prst="rect">
            <a:avLst/>
          </a:prstGeom>
          <a:noFill/>
          <a:extLst>
            <a:ext uri="{909E8E84-426E-40DD-AFC4-6F175D3DCCD1}">
              <a14:hiddenFill xmlns:a14="http://schemas.microsoft.com/office/drawing/2010/main">
                <a:solidFill>
                  <a:srgbClr val="FFFFFF"/>
                </a:solidFill>
              </a14:hiddenFill>
            </a:ext>
          </a:extLst>
        </p:spPr>
      </p:pic>
      <p:cxnSp>
        <p:nvCxnSpPr>
          <p:cNvPr id="54" name="Straight Arrow Connector 33">
            <a:extLst>
              <a:ext uri="{FF2B5EF4-FFF2-40B4-BE49-F238E27FC236}">
                <a16:creationId xmlns:a16="http://schemas.microsoft.com/office/drawing/2014/main" id="{D9F09C77-9197-B7B2-424E-52A02EBD28FF}"/>
              </a:ext>
            </a:extLst>
          </p:cNvPr>
          <p:cNvCxnSpPr>
            <a:cxnSpLocks/>
            <a:stCxn id="53" idx="0"/>
            <a:endCxn id="51" idx="2"/>
          </p:cNvCxnSpPr>
          <p:nvPr/>
        </p:nvCxnSpPr>
        <p:spPr>
          <a:xfrm flipV="1">
            <a:off x="8179034" y="3346346"/>
            <a:ext cx="4056" cy="65827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4FAF60C1-F977-676B-CED7-EAF7183924FE}"/>
              </a:ext>
            </a:extLst>
          </p:cNvPr>
          <p:cNvSpPr txBox="1">
            <a:spLocks noChangeArrowheads="1"/>
          </p:cNvSpPr>
          <p:nvPr/>
        </p:nvSpPr>
        <p:spPr bwMode="auto">
          <a:xfrm>
            <a:off x="7726868" y="4785084"/>
            <a:ext cx="9043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Chat GPT </a:t>
            </a:r>
          </a:p>
          <a:p>
            <a:r>
              <a:rPr lang="en-US" dirty="0"/>
              <a:t>LLM</a:t>
            </a:r>
          </a:p>
        </p:txBody>
      </p:sp>
      <p:sp>
        <p:nvSpPr>
          <p:cNvPr id="56" name="Rectangle 55">
            <a:extLst>
              <a:ext uri="{FF2B5EF4-FFF2-40B4-BE49-F238E27FC236}">
                <a16:creationId xmlns:a16="http://schemas.microsoft.com/office/drawing/2014/main" id="{5C82B589-82DE-6643-578D-2D56B099FC24}"/>
              </a:ext>
            </a:extLst>
          </p:cNvPr>
          <p:cNvSpPr/>
          <p:nvPr/>
        </p:nvSpPr>
        <p:spPr>
          <a:xfrm>
            <a:off x="7434943" y="2216836"/>
            <a:ext cx="1427264" cy="32913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a:extLst>
              <a:ext uri="{FF2B5EF4-FFF2-40B4-BE49-F238E27FC236}">
                <a16:creationId xmlns:a16="http://schemas.microsoft.com/office/drawing/2014/main" id="{533BFE44-5D9E-341B-B017-BE632E23723F}"/>
              </a:ext>
            </a:extLst>
          </p:cNvPr>
          <p:cNvSpPr txBox="1">
            <a:spLocks noChangeArrowheads="1"/>
          </p:cNvSpPr>
          <p:nvPr/>
        </p:nvSpPr>
        <p:spPr bwMode="auto">
          <a:xfrm>
            <a:off x="7748640" y="5555466"/>
            <a:ext cx="904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AI Foundry</a:t>
            </a:r>
          </a:p>
        </p:txBody>
      </p:sp>
      <p:pic>
        <p:nvPicPr>
          <p:cNvPr id="58" name="Picture 8" descr="Azure AI Foundry &amp; Azure ML Studio: It ...">
            <a:extLst>
              <a:ext uri="{FF2B5EF4-FFF2-40B4-BE49-F238E27FC236}">
                <a16:creationId xmlns:a16="http://schemas.microsoft.com/office/drawing/2014/main" id="{472E40B4-725F-4339-241A-6534F8348408}"/>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61149"/>
          <a:stretch/>
        </p:blipFill>
        <p:spPr bwMode="auto">
          <a:xfrm>
            <a:off x="8957457" y="5168732"/>
            <a:ext cx="805668" cy="91416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1CFA225D-E708-90BA-28BF-DB7865AA40A0}"/>
              </a:ext>
            </a:extLst>
          </p:cNvPr>
          <p:cNvPicPr>
            <a:picLocks noChangeAspect="1"/>
          </p:cNvPicPr>
          <p:nvPr/>
        </p:nvPicPr>
        <p:blipFill>
          <a:blip r:embed="rId12"/>
          <a:srcRect b="14478"/>
          <a:stretch/>
        </p:blipFill>
        <p:spPr>
          <a:xfrm>
            <a:off x="1304926" y="4653633"/>
            <a:ext cx="961756" cy="917597"/>
          </a:xfrm>
          <a:prstGeom prst="rect">
            <a:avLst/>
          </a:prstGeom>
        </p:spPr>
      </p:pic>
      <p:sp>
        <p:nvSpPr>
          <p:cNvPr id="60" name="TextBox 59">
            <a:extLst>
              <a:ext uri="{FF2B5EF4-FFF2-40B4-BE49-F238E27FC236}">
                <a16:creationId xmlns:a16="http://schemas.microsoft.com/office/drawing/2014/main" id="{5437973E-26BC-7319-972B-97D13656DAE1}"/>
              </a:ext>
            </a:extLst>
          </p:cNvPr>
          <p:cNvSpPr txBox="1">
            <a:spLocks noChangeArrowheads="1"/>
          </p:cNvSpPr>
          <p:nvPr/>
        </p:nvSpPr>
        <p:spPr bwMode="auto">
          <a:xfrm>
            <a:off x="2192689" y="5166142"/>
            <a:ext cx="904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Responses</a:t>
            </a:r>
          </a:p>
        </p:txBody>
      </p:sp>
      <p:pic>
        <p:nvPicPr>
          <p:cNvPr id="61" name="Picture 6" descr="Azure analysis services processing ...">
            <a:extLst>
              <a:ext uri="{FF2B5EF4-FFF2-40B4-BE49-F238E27FC236}">
                <a16:creationId xmlns:a16="http://schemas.microsoft.com/office/drawing/2014/main" id="{202A26EC-F63A-21B1-1701-BCC4C02C4D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0918" y="4099812"/>
            <a:ext cx="792265" cy="832059"/>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8BA1E891-7B20-F691-F056-D182FDBEEA33}"/>
              </a:ext>
            </a:extLst>
          </p:cNvPr>
          <p:cNvSpPr txBox="1">
            <a:spLocks noChangeArrowheads="1"/>
          </p:cNvSpPr>
          <p:nvPr/>
        </p:nvSpPr>
        <p:spPr bwMode="auto">
          <a:xfrm>
            <a:off x="4032826" y="5030963"/>
            <a:ext cx="90433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R="0" lvl="0" indent="0" algn="ctr" defTabSz="685772" eaLnBrk="0" fontAlgn="base" hangingPunct="0">
              <a:lnSpc>
                <a:spcPct val="100000"/>
              </a:lnSpc>
              <a:spcBef>
                <a:spcPct val="0"/>
              </a:spcBef>
              <a:spcAft>
                <a:spcPct val="0"/>
              </a:spcAft>
              <a:buClrTx/>
              <a:buSzTx/>
              <a:buFontTx/>
              <a:buNone/>
              <a:tabLst/>
              <a:defRPr kumimoji="0" sz="1000" b="1" i="0" u="none" strike="noStrike" kern="0" cap="none" spc="0" normalizeH="0" baseline="0">
                <a:ln>
                  <a:noFill/>
                </a:ln>
                <a:solidFill>
                  <a:srgbClr val="44546A"/>
                </a:solidFill>
                <a:effectLst/>
                <a:uLnTx/>
                <a:uFillTx/>
                <a:latin typeface="Museo Sans 700"/>
                <a:ea typeface="MS PGothic" pitchFamily="34" charset="-128"/>
              </a:defRPr>
            </a:lvl1pPr>
            <a:lvl2pPr marL="742950" indent="-285750">
              <a:lnSpc>
                <a:spcPct val="90000"/>
              </a:lnSpc>
              <a:spcBef>
                <a:spcPts val="500"/>
              </a:spcBef>
              <a:buFont typeface="Arial" panose="020B0604020202020204" pitchFamily="34" charset="0"/>
              <a:buChar char="•"/>
              <a:defRPr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pitchFamily="34" charset="0"/>
              </a:defRPr>
            </a:lvl9pPr>
          </a:lstStyle>
          <a:p>
            <a:r>
              <a:rPr lang="en-US" dirty="0"/>
              <a:t>Final Response Agent</a:t>
            </a:r>
          </a:p>
        </p:txBody>
      </p:sp>
      <p:cxnSp>
        <p:nvCxnSpPr>
          <p:cNvPr id="63" name="Straight Arrow Connector 33">
            <a:extLst>
              <a:ext uri="{FF2B5EF4-FFF2-40B4-BE49-F238E27FC236}">
                <a16:creationId xmlns:a16="http://schemas.microsoft.com/office/drawing/2014/main" id="{17032553-E70E-AC3C-77A4-E1F5B5B217EC}"/>
              </a:ext>
            </a:extLst>
          </p:cNvPr>
          <p:cNvCxnSpPr>
            <a:cxnSpLocks/>
            <a:stCxn id="36" idx="2"/>
            <a:endCxn id="61" idx="0"/>
          </p:cNvCxnSpPr>
          <p:nvPr/>
        </p:nvCxnSpPr>
        <p:spPr>
          <a:xfrm flipH="1">
            <a:off x="4187051" y="3479786"/>
            <a:ext cx="10588" cy="62002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33">
            <a:extLst>
              <a:ext uri="{FF2B5EF4-FFF2-40B4-BE49-F238E27FC236}">
                <a16:creationId xmlns:a16="http://schemas.microsoft.com/office/drawing/2014/main" id="{EAEB4D2F-10A0-5921-A862-D83636B4391D}"/>
              </a:ext>
            </a:extLst>
          </p:cNvPr>
          <p:cNvCxnSpPr>
            <a:cxnSpLocks/>
            <a:stCxn id="61" idx="2"/>
            <a:endCxn id="51" idx="1"/>
          </p:cNvCxnSpPr>
          <p:nvPr/>
        </p:nvCxnSpPr>
        <p:spPr>
          <a:xfrm rot="5400000" flipH="1" flipV="1">
            <a:off x="5079867" y="2200663"/>
            <a:ext cx="1838391" cy="3624025"/>
          </a:xfrm>
          <a:prstGeom prst="bentConnector4">
            <a:avLst>
              <a:gd name="adj1" fmla="val -44410"/>
              <a:gd name="adj2" fmla="val 69583"/>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1028">
            <a:extLst>
              <a:ext uri="{FF2B5EF4-FFF2-40B4-BE49-F238E27FC236}">
                <a16:creationId xmlns:a16="http://schemas.microsoft.com/office/drawing/2014/main" id="{9BA0997A-6D03-452D-A447-E7694A2D88D5}"/>
              </a:ext>
            </a:extLst>
          </p:cNvPr>
          <p:cNvCxnSpPr>
            <a:cxnSpLocks/>
            <a:stCxn id="61" idx="1"/>
            <a:endCxn id="5" idx="2"/>
          </p:cNvCxnSpPr>
          <p:nvPr/>
        </p:nvCxnSpPr>
        <p:spPr>
          <a:xfrm rot="10800000">
            <a:off x="1706744" y="3588182"/>
            <a:ext cx="2084175" cy="927661"/>
          </a:xfrm>
          <a:prstGeom prst="bentConnector2">
            <a:avLst/>
          </a:prstGeom>
          <a:ln w="57150">
            <a:solidFill>
              <a:srgbClr val="7CCFC1"/>
            </a:solidFill>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21CC3D7C-31A7-2E2C-FED7-CE38467B7A97}"/>
              </a:ext>
            </a:extLst>
          </p:cNvPr>
          <p:cNvSpPr/>
          <p:nvPr/>
        </p:nvSpPr>
        <p:spPr>
          <a:xfrm>
            <a:off x="4990657" y="3303181"/>
            <a:ext cx="311667" cy="28198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69" name="Rectangle 68">
            <a:extLst>
              <a:ext uri="{FF2B5EF4-FFF2-40B4-BE49-F238E27FC236}">
                <a16:creationId xmlns:a16="http://schemas.microsoft.com/office/drawing/2014/main" id="{523F9EEA-810E-FAFF-9B07-60DA99E554D9}"/>
              </a:ext>
            </a:extLst>
          </p:cNvPr>
          <p:cNvSpPr/>
          <p:nvPr/>
        </p:nvSpPr>
        <p:spPr>
          <a:xfrm>
            <a:off x="5374093" y="3812436"/>
            <a:ext cx="311667" cy="28198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70" name="Rectangle 69">
            <a:extLst>
              <a:ext uri="{FF2B5EF4-FFF2-40B4-BE49-F238E27FC236}">
                <a16:creationId xmlns:a16="http://schemas.microsoft.com/office/drawing/2014/main" id="{4BFD484F-E879-0B04-C839-CD48B9BDBBF0}"/>
              </a:ext>
            </a:extLst>
          </p:cNvPr>
          <p:cNvSpPr/>
          <p:nvPr/>
        </p:nvSpPr>
        <p:spPr>
          <a:xfrm>
            <a:off x="5517633" y="2470740"/>
            <a:ext cx="311667" cy="281985"/>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71" name="Rectangle 70">
            <a:extLst>
              <a:ext uri="{FF2B5EF4-FFF2-40B4-BE49-F238E27FC236}">
                <a16:creationId xmlns:a16="http://schemas.microsoft.com/office/drawing/2014/main" id="{6740E683-A704-EB8F-9E7D-A46F7318AF43}"/>
              </a:ext>
            </a:extLst>
          </p:cNvPr>
          <p:cNvSpPr/>
          <p:nvPr/>
        </p:nvSpPr>
        <p:spPr>
          <a:xfrm>
            <a:off x="6684335" y="2563996"/>
            <a:ext cx="311667" cy="281985"/>
          </a:xfrm>
          <a:prstGeom prst="rect">
            <a:avLst/>
          </a:prstGeom>
          <a:solidFill>
            <a:srgbClr val="3E7A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spTree>
    <p:extLst>
      <p:ext uri="{BB962C8B-B14F-4D97-AF65-F5344CB8AC3E}">
        <p14:creationId xmlns:p14="http://schemas.microsoft.com/office/powerpoint/2010/main" val="1704048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CC7055A-3D64-74E9-AC9A-638CFC6E0EEF}"/>
              </a:ext>
            </a:extLst>
          </p:cNvPr>
          <p:cNvGraphicFramePr>
            <a:graphicFrameLocks noGrp="1"/>
          </p:cNvGraphicFramePr>
          <p:nvPr>
            <p:extLst>
              <p:ext uri="{D42A27DB-BD31-4B8C-83A1-F6EECF244321}">
                <p14:modId xmlns:p14="http://schemas.microsoft.com/office/powerpoint/2010/main" val="2213802268"/>
              </p:ext>
            </p:extLst>
          </p:nvPr>
        </p:nvGraphicFramePr>
        <p:xfrm>
          <a:off x="771525" y="1401234"/>
          <a:ext cx="11210926" cy="4105951"/>
        </p:xfrm>
        <a:graphic>
          <a:graphicData uri="http://schemas.openxmlformats.org/drawingml/2006/table">
            <a:tbl>
              <a:tblPr firstRow="1" firstCol="1" bandRow="1"/>
              <a:tblGrid>
                <a:gridCol w="4121199">
                  <a:extLst>
                    <a:ext uri="{9D8B030D-6E8A-4147-A177-3AD203B41FA5}">
                      <a16:colId xmlns:a16="http://schemas.microsoft.com/office/drawing/2014/main" val="4098408885"/>
                    </a:ext>
                  </a:extLst>
                </a:gridCol>
                <a:gridCol w="1893676">
                  <a:extLst>
                    <a:ext uri="{9D8B030D-6E8A-4147-A177-3AD203B41FA5}">
                      <a16:colId xmlns:a16="http://schemas.microsoft.com/office/drawing/2014/main" val="4036919130"/>
                    </a:ext>
                  </a:extLst>
                </a:gridCol>
                <a:gridCol w="1975446">
                  <a:extLst>
                    <a:ext uri="{9D8B030D-6E8A-4147-A177-3AD203B41FA5}">
                      <a16:colId xmlns:a16="http://schemas.microsoft.com/office/drawing/2014/main" val="261713598"/>
                    </a:ext>
                  </a:extLst>
                </a:gridCol>
                <a:gridCol w="1716040">
                  <a:extLst>
                    <a:ext uri="{9D8B030D-6E8A-4147-A177-3AD203B41FA5}">
                      <a16:colId xmlns:a16="http://schemas.microsoft.com/office/drawing/2014/main" val="2194814424"/>
                    </a:ext>
                  </a:extLst>
                </a:gridCol>
                <a:gridCol w="1504565">
                  <a:extLst>
                    <a:ext uri="{9D8B030D-6E8A-4147-A177-3AD203B41FA5}">
                      <a16:colId xmlns:a16="http://schemas.microsoft.com/office/drawing/2014/main" val="626094542"/>
                    </a:ext>
                  </a:extLst>
                </a:gridCol>
              </a:tblGrid>
              <a:tr h="448700">
                <a:tc>
                  <a:txBody>
                    <a:bodyPr/>
                    <a:lstStyle/>
                    <a:p>
                      <a:pPr algn="l" fontAlgn="b">
                        <a:buNone/>
                      </a:pPr>
                      <a:endParaRPr lang="en-GB" sz="2700" b="0" i="0" u="none" strike="noStrike" dirty="0">
                        <a:effectLst/>
                        <a:latin typeface="IBM Plex Sans" panose="020B0503050203000203" pitchFamily="34" charset="0"/>
                      </a:endParaRPr>
                    </a:p>
                  </a:txBody>
                  <a:tcPr marL="104080" marR="104080" marT="14456" marB="0" anchor="b">
                    <a:lnL>
                      <a:noFill/>
                    </a:lnL>
                    <a:lnR>
                      <a:noFill/>
                    </a:lnR>
                    <a:lnT>
                      <a:noFill/>
                    </a:lnT>
                    <a:lnB w="12700" cap="flat" cmpd="sng" algn="ctr">
                      <a:solidFill>
                        <a:srgbClr val="00AEC6"/>
                      </a:solidFill>
                      <a:prstDash val="solid"/>
                      <a:round/>
                      <a:headEnd type="none" w="med" len="med"/>
                      <a:tailEnd type="none" w="med" len="med"/>
                    </a:lnB>
                    <a:noFill/>
                  </a:tcPr>
                </a:tc>
                <a:tc>
                  <a:txBody>
                    <a:bodyPr/>
                    <a:lstStyle/>
                    <a:p>
                      <a:pPr algn="l" fontAlgn="b">
                        <a:buNone/>
                      </a:pPr>
                      <a:endParaRPr lang="en-GB" sz="2700" b="0" i="0" u="none" strike="noStrike">
                        <a:effectLst/>
                        <a:latin typeface="IBM Plex Sans" panose="020B0503050203000203" pitchFamily="34" charset="0"/>
                      </a:endParaRPr>
                    </a:p>
                  </a:txBody>
                  <a:tcPr marL="104080" marR="104080" marT="14456" marB="0" anchor="b">
                    <a:lnL>
                      <a:noFill/>
                    </a:lnL>
                    <a:lnR>
                      <a:noFill/>
                    </a:lnR>
                    <a:lnT>
                      <a:noFill/>
                    </a:lnT>
                    <a:lnB w="12700" cap="flat" cmpd="sng" algn="ctr">
                      <a:solidFill>
                        <a:srgbClr val="00AEC6"/>
                      </a:solidFill>
                      <a:prstDash val="solid"/>
                      <a:round/>
                      <a:headEnd type="none" w="med" len="med"/>
                      <a:tailEnd type="none" w="med" len="med"/>
                    </a:lnB>
                    <a:noFill/>
                  </a:tcPr>
                </a:tc>
                <a:tc gridSpan="2">
                  <a:txBody>
                    <a:bodyPr/>
                    <a:lstStyle/>
                    <a:p>
                      <a:pPr algn="ctr" fontAlgn="b">
                        <a:buNone/>
                      </a:pPr>
                      <a:r>
                        <a:rPr lang="en-GB" sz="1700" b="1" i="1" u="none" strike="noStrike">
                          <a:solidFill>
                            <a:srgbClr val="FFFFFF"/>
                          </a:solidFill>
                          <a:effectLst/>
                          <a:latin typeface="IBM Plex Sans" panose="020B0503050203000203" pitchFamily="34" charset="0"/>
                          <a:ea typeface="Aptos" panose="020B0004020202020204" pitchFamily="34" charset="0"/>
                          <a:cs typeface="Aptos" panose="020B0004020202020204" pitchFamily="34" charset="0"/>
                        </a:rPr>
                        <a:t>R&amp;G Agent </a:t>
                      </a:r>
                      <a:endParaRPr lang="en-GB" sz="2700" b="0" i="0" u="none" strike="noStrike">
                        <a:effectLst/>
                        <a:latin typeface="IBM Plex Sans" panose="020B0503050203000203" pitchFamily="34" charset="0"/>
                      </a:endParaRPr>
                    </a:p>
                  </a:txBody>
                  <a:tcPr marL="138773" marR="138773" marT="69387" marB="69387">
                    <a:lnL>
                      <a:noFill/>
                    </a:lnL>
                    <a:lnR>
                      <a:noFill/>
                    </a:lnR>
                    <a:lnT>
                      <a:noFill/>
                    </a:lnT>
                    <a:lnB w="12700" cap="flat" cmpd="sng" algn="ctr">
                      <a:solidFill>
                        <a:srgbClr val="00AEC6"/>
                      </a:solidFill>
                      <a:prstDash val="solid"/>
                      <a:round/>
                      <a:headEnd type="none" w="med" len="med"/>
                      <a:tailEnd type="none" w="med" len="med"/>
                    </a:lnB>
                    <a:solidFill>
                      <a:srgbClr val="027180"/>
                    </a:solidFill>
                  </a:tcPr>
                </a:tc>
                <a:tc hMerge="1">
                  <a:txBody>
                    <a:bodyPr/>
                    <a:lstStyle/>
                    <a:p>
                      <a:endParaRPr lang="en-GB"/>
                    </a:p>
                  </a:txBody>
                  <a:tcPr/>
                </a:tc>
                <a:tc>
                  <a:txBody>
                    <a:bodyPr/>
                    <a:lstStyle/>
                    <a:p>
                      <a:pPr algn="l" fontAlgn="b">
                        <a:buNone/>
                      </a:pPr>
                      <a:endParaRPr lang="en-GB" sz="2700" b="0" i="0" u="none" strike="noStrike">
                        <a:effectLst/>
                        <a:latin typeface="IBM Plex Sans" panose="020B0503050203000203" pitchFamily="34" charset="0"/>
                      </a:endParaRPr>
                    </a:p>
                  </a:txBody>
                  <a:tcPr marL="104080" marR="104080" marT="14456" marB="0" anchor="b">
                    <a:lnL>
                      <a:noFill/>
                    </a:lnL>
                    <a:lnR>
                      <a:noFill/>
                    </a:lnR>
                    <a:lnT>
                      <a:noFill/>
                    </a:lnT>
                    <a:lnB w="12700" cap="flat" cmpd="sng" algn="ctr">
                      <a:solidFill>
                        <a:srgbClr val="00AEC6"/>
                      </a:solidFill>
                      <a:prstDash val="solid"/>
                      <a:round/>
                      <a:headEnd type="none" w="med" len="med"/>
                      <a:tailEnd type="none" w="med" len="med"/>
                    </a:lnB>
                    <a:noFill/>
                  </a:tcPr>
                </a:tc>
                <a:extLst>
                  <a:ext uri="{0D108BD9-81ED-4DB2-BD59-A6C34878D82A}">
                    <a16:rowId xmlns:a16="http://schemas.microsoft.com/office/drawing/2014/main" val="2698485471"/>
                  </a:ext>
                </a:extLst>
              </a:tr>
              <a:tr h="578800">
                <a:tc>
                  <a:txBody>
                    <a:bodyPr/>
                    <a:lstStyle/>
                    <a:p>
                      <a:pPr algn="l" fontAlgn="ctr">
                        <a:buNone/>
                      </a:pPr>
                      <a:r>
                        <a:rPr lang="en-GB" sz="1700" b="1" i="0" u="none" strike="noStrike">
                          <a:solidFill>
                            <a:srgbClr val="FFFFFF"/>
                          </a:solidFill>
                          <a:effectLst/>
                          <a:latin typeface="IBM Plex Sans" panose="020B0503050203000203" pitchFamily="34" charset="0"/>
                          <a:ea typeface="Aptos" panose="020B0004020202020204" pitchFamily="34" charset="0"/>
                          <a:cs typeface="Aptos" panose="020B0004020202020204" pitchFamily="34" charset="0"/>
                        </a:rPr>
                        <a:t>Prompt/ Question</a:t>
                      </a:r>
                      <a:endParaRPr lang="en-GB" sz="2700" b="0" i="0" u="none" strike="noStrike">
                        <a:effectLst/>
                        <a:latin typeface="IBM Plex Sans" panose="020B0503050203000203" pitchFamily="34" charset="0"/>
                      </a:endParaRPr>
                    </a:p>
                  </a:txBody>
                  <a:tcPr marL="104080" marR="104080" marT="14456" marB="0" anchor="ctr">
                    <a:lnL w="12700" cap="flat" cmpd="sng" algn="ctr">
                      <a:solidFill>
                        <a:srgbClr val="00AEC6"/>
                      </a:solidFill>
                      <a:prstDash val="solid"/>
                      <a:round/>
                      <a:headEnd type="none" w="med" len="med"/>
                      <a:tailEnd type="none" w="med" len="med"/>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00AEC6"/>
                    </a:solidFill>
                  </a:tcPr>
                </a:tc>
                <a:tc>
                  <a:txBody>
                    <a:bodyPr/>
                    <a:lstStyle/>
                    <a:p>
                      <a:pPr algn="ctr" fontAlgn="ctr">
                        <a:buNone/>
                      </a:pPr>
                      <a:r>
                        <a:rPr lang="en-GB" sz="1700" b="1" i="0" u="none" strike="noStrike">
                          <a:solidFill>
                            <a:srgbClr val="FFFFFF"/>
                          </a:solidFill>
                          <a:effectLst/>
                          <a:latin typeface="IBM Plex Sans" panose="020B0503050203000203" pitchFamily="34" charset="0"/>
                          <a:ea typeface="Aptos" panose="020B0004020202020204" pitchFamily="34" charset="0"/>
                          <a:cs typeface="Aptos" panose="020B0004020202020204" pitchFamily="34" charset="0"/>
                        </a:rPr>
                        <a:t>Quote/Policy Agent</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00AEC6"/>
                    </a:solidFill>
                  </a:tcPr>
                </a:tc>
                <a:tc>
                  <a:txBody>
                    <a:bodyPr/>
                    <a:lstStyle/>
                    <a:p>
                      <a:pPr algn="ctr" fontAlgn="ctr">
                        <a:buNone/>
                      </a:pPr>
                      <a:r>
                        <a:rPr lang="en-GB" sz="1700" b="1" i="0" u="none" strike="noStrike">
                          <a:solidFill>
                            <a:srgbClr val="FFFFFF"/>
                          </a:solidFill>
                          <a:effectLst/>
                          <a:latin typeface="IBM Plex Sans" panose="020B0503050203000203" pitchFamily="34" charset="0"/>
                          <a:ea typeface="Aptos" panose="020B0004020202020204" pitchFamily="34" charset="0"/>
                          <a:cs typeface="Aptos" panose="020B0004020202020204" pitchFamily="34" charset="0"/>
                        </a:rPr>
                        <a:t>Sustainability list</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00AEC6"/>
                    </a:solidFill>
                  </a:tcPr>
                </a:tc>
                <a:tc>
                  <a:txBody>
                    <a:bodyPr/>
                    <a:lstStyle/>
                    <a:p>
                      <a:pPr algn="ctr" fontAlgn="ctr">
                        <a:buNone/>
                      </a:pPr>
                      <a:r>
                        <a:rPr lang="en-GB" sz="1700" b="1" i="0" u="none" strike="noStrike">
                          <a:solidFill>
                            <a:srgbClr val="FFFFFF"/>
                          </a:solidFill>
                          <a:effectLst/>
                          <a:latin typeface="IBM Plex Sans" panose="020B0503050203000203" pitchFamily="34" charset="0"/>
                          <a:ea typeface="Aptos" panose="020B0004020202020204" pitchFamily="34" charset="0"/>
                          <a:cs typeface="Aptos" panose="020B0004020202020204" pitchFamily="34" charset="0"/>
                        </a:rPr>
                        <a:t>R&amp;G documents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00AEC6"/>
                    </a:solidFill>
                  </a:tcPr>
                </a:tc>
                <a:tc>
                  <a:txBody>
                    <a:bodyPr/>
                    <a:lstStyle/>
                    <a:p>
                      <a:pPr algn="ctr" fontAlgn="ctr">
                        <a:buNone/>
                      </a:pPr>
                      <a:r>
                        <a:rPr lang="en-GB" sz="1700" b="1" i="0" u="none" strike="noStrike">
                          <a:solidFill>
                            <a:srgbClr val="FFFFFF"/>
                          </a:solidFill>
                          <a:effectLst/>
                          <a:latin typeface="IBM Plex Sans" panose="020B0503050203000203" pitchFamily="34" charset="0"/>
                          <a:ea typeface="Aptos" panose="020B0004020202020204" pitchFamily="34" charset="0"/>
                          <a:cs typeface="Aptos" panose="020B0004020202020204" pitchFamily="34" charset="0"/>
                        </a:rPr>
                        <a:t>Database agent</a:t>
                      </a:r>
                      <a:endParaRPr lang="en-GB" sz="2700" b="0" i="0" u="none" strike="noStrike">
                        <a:effectLst/>
                        <a:latin typeface="IBM Plex Sans" panose="020B0503050203000203" pitchFamily="34" charset="0"/>
                      </a:endParaRPr>
                    </a:p>
                  </a:txBody>
                  <a:tcPr marL="104080" marR="104080" marT="14456" marB="0" anchor="ctr">
                    <a:lnL>
                      <a:noFill/>
                    </a:lnL>
                    <a:lnR w="12700" cap="flat" cmpd="sng" algn="ctr">
                      <a:solidFill>
                        <a:srgbClr val="00AEC6"/>
                      </a:solidFill>
                      <a:prstDash val="solid"/>
                      <a:round/>
                      <a:headEnd type="none" w="med" len="med"/>
                      <a:tailEnd type="none" w="med" len="med"/>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00AEC6"/>
                    </a:solidFill>
                  </a:tcPr>
                </a:tc>
                <a:extLst>
                  <a:ext uri="{0D108BD9-81ED-4DB2-BD59-A6C34878D82A}">
                    <a16:rowId xmlns:a16="http://schemas.microsoft.com/office/drawing/2014/main" val="329197105"/>
                  </a:ext>
                </a:extLst>
              </a:tr>
              <a:tr h="833217">
                <a:tc>
                  <a:txBody>
                    <a:bodyPr/>
                    <a:lstStyle/>
                    <a:p>
                      <a:pPr algn="l" fontAlgn="ctr">
                        <a:buNone/>
                      </a:pPr>
                      <a:r>
                        <a:rPr lang="en-GB" sz="1700" b="0" i="0" u="none" strike="noStrike">
                          <a:solidFill>
                            <a:srgbClr val="000000"/>
                          </a:solidFill>
                          <a:effectLst/>
                          <a:latin typeface="IBM Plex Sans" panose="020B0503050203000203" pitchFamily="34" charset="0"/>
                          <a:ea typeface="Aptos" panose="020B0004020202020204" pitchFamily="34" charset="0"/>
                          <a:cs typeface="Aptos" panose="020B0004020202020204" pitchFamily="34" charset="0"/>
                        </a:rPr>
                        <a:t>Do I need any referrals for this policy? What referrals are needed?</a:t>
                      </a:r>
                      <a:endParaRPr lang="en-GB" sz="2700" b="0" i="0" u="none" strike="noStrike">
                        <a:effectLst/>
                        <a:latin typeface="IBM Plex Sans" panose="020B0503050203000203" pitchFamily="34" charset="0"/>
                      </a:endParaRPr>
                    </a:p>
                  </a:txBody>
                  <a:tcPr marL="104080" marR="104080" marT="14456" marB="0" anchor="ctr">
                    <a:lnL w="12700" cap="flat" cmpd="sng" algn="ctr">
                      <a:solidFill>
                        <a:srgbClr val="00AEC6"/>
                      </a:solidFill>
                      <a:prstDash val="solid"/>
                      <a:round/>
                      <a:headEnd type="none" w="med" len="med"/>
                      <a:tailEnd type="none" w="med" len="med"/>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w="12700" cap="flat" cmpd="sng" algn="ctr">
                      <a:solidFill>
                        <a:srgbClr val="00AEC6"/>
                      </a:solidFill>
                      <a:prstDash val="solid"/>
                      <a:round/>
                      <a:headEnd type="none" w="med" len="med"/>
                      <a:tailEnd type="none" w="med" len="med"/>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extLst>
                  <a:ext uri="{0D108BD9-81ED-4DB2-BD59-A6C34878D82A}">
                    <a16:rowId xmlns:a16="http://schemas.microsoft.com/office/drawing/2014/main" val="2434657512"/>
                  </a:ext>
                </a:extLst>
              </a:tr>
              <a:tr h="578800">
                <a:tc>
                  <a:txBody>
                    <a:bodyPr/>
                    <a:lstStyle/>
                    <a:p>
                      <a:pPr algn="l" fontAlgn="ctr">
                        <a:buNone/>
                      </a:pPr>
                      <a:r>
                        <a:rPr lang="en-GB" sz="1700" b="0" i="0" u="none" strike="noStrike">
                          <a:solidFill>
                            <a:srgbClr val="000000"/>
                          </a:solidFill>
                          <a:effectLst/>
                          <a:latin typeface="IBM Plex Sans" panose="020B0503050203000203" pitchFamily="34" charset="0"/>
                          <a:ea typeface="Aptos" panose="020B0004020202020204" pitchFamily="34" charset="0"/>
                          <a:cs typeface="Aptos" panose="020B0004020202020204" pitchFamily="34" charset="0"/>
                        </a:rPr>
                        <a:t>Can I perform manuscripting in this policy?</a:t>
                      </a:r>
                      <a:endParaRPr lang="en-GB" sz="2700" b="0" i="0" u="none" strike="noStrike">
                        <a:effectLst/>
                        <a:latin typeface="IBM Plex Sans" panose="020B0503050203000203" pitchFamily="34" charset="0"/>
                      </a:endParaRPr>
                    </a:p>
                  </a:txBody>
                  <a:tcPr marL="104080" marR="104080" marT="14456" marB="0" anchor="ctr">
                    <a:lnL w="12700" cap="flat" cmpd="sng" algn="ctr">
                      <a:solidFill>
                        <a:srgbClr val="00AEC6"/>
                      </a:solidFill>
                      <a:prstDash val="solid"/>
                      <a:round/>
                      <a:headEnd type="none" w="med" len="med"/>
                      <a:tailEnd type="none" w="med" len="med"/>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l" fontAlgn="ctr">
                        <a:buNone/>
                      </a:pP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l" fontAlgn="ctr">
                        <a:buNone/>
                      </a:pP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l" fontAlgn="ctr">
                        <a:buNone/>
                      </a:pP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w="12700" cap="flat" cmpd="sng" algn="ctr">
                      <a:solidFill>
                        <a:srgbClr val="00AEC6"/>
                      </a:solidFill>
                      <a:prstDash val="solid"/>
                      <a:round/>
                      <a:headEnd type="none" w="med" len="med"/>
                      <a:tailEnd type="none" w="med" len="med"/>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extLst>
                  <a:ext uri="{0D108BD9-81ED-4DB2-BD59-A6C34878D82A}">
                    <a16:rowId xmlns:a16="http://schemas.microsoft.com/office/drawing/2014/main" val="2123012445"/>
                  </a:ext>
                </a:extLst>
              </a:tr>
              <a:tr h="833217">
                <a:tc>
                  <a:txBody>
                    <a:bodyPr/>
                    <a:lstStyle/>
                    <a:p>
                      <a:pPr algn="l" fontAlgn="ctr">
                        <a:buNone/>
                      </a:pPr>
                      <a:r>
                        <a:rPr lang="en-GB" sz="1700" b="0" i="0" u="none" strike="noStrike" dirty="0">
                          <a:solidFill>
                            <a:srgbClr val="000000"/>
                          </a:solidFill>
                          <a:effectLst/>
                          <a:latin typeface="IBM Plex Sans" panose="020B0503050203000203" pitchFamily="34" charset="0"/>
                          <a:ea typeface="Aptos" panose="020B0004020202020204" pitchFamily="34" charset="0"/>
                          <a:cs typeface="Aptos" panose="020B0004020202020204" pitchFamily="34" charset="0"/>
                        </a:rPr>
                        <a:t>Can I change the limit for Product Recall coverage to GBP 10,000,000? Any referrals needed?</a:t>
                      </a:r>
                      <a:endParaRPr lang="en-GB" sz="2700" b="0" i="0" u="none" strike="noStrike" dirty="0">
                        <a:effectLst/>
                        <a:latin typeface="IBM Plex Sans" panose="020B0503050203000203" pitchFamily="34" charset="0"/>
                      </a:endParaRPr>
                    </a:p>
                  </a:txBody>
                  <a:tcPr marL="104080" marR="104080" marT="14456" marB="0" anchor="ctr">
                    <a:lnL w="12700" cap="flat" cmpd="sng" algn="ctr">
                      <a:solidFill>
                        <a:srgbClr val="00AEC6"/>
                      </a:solidFill>
                      <a:prstDash val="solid"/>
                      <a:round/>
                      <a:headEnd type="none" w="med" len="med"/>
                      <a:tailEnd type="none" w="med" len="med"/>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l" fontAlgn="ctr">
                        <a:buNone/>
                      </a:pP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l" fontAlgn="ctr">
                        <a:buNone/>
                      </a:pP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w="12700" cap="flat" cmpd="sng" algn="ctr">
                      <a:solidFill>
                        <a:srgbClr val="00AEC6"/>
                      </a:solidFill>
                      <a:prstDash val="solid"/>
                      <a:round/>
                      <a:headEnd type="none" w="med" len="med"/>
                      <a:tailEnd type="none" w="med" len="med"/>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extLst>
                  <a:ext uri="{0D108BD9-81ED-4DB2-BD59-A6C34878D82A}">
                    <a16:rowId xmlns:a16="http://schemas.microsoft.com/office/drawing/2014/main" val="3433913225"/>
                  </a:ext>
                </a:extLst>
              </a:tr>
              <a:tr h="833217">
                <a:tc>
                  <a:txBody>
                    <a:bodyPr/>
                    <a:lstStyle/>
                    <a:p>
                      <a:pPr algn="l" fontAlgn="ctr">
                        <a:buNone/>
                      </a:pPr>
                      <a:r>
                        <a:rPr lang="en-GB" sz="1700" b="0" i="0" u="none" strike="noStrike" dirty="0">
                          <a:solidFill>
                            <a:srgbClr val="000000"/>
                          </a:solidFill>
                          <a:effectLst/>
                          <a:latin typeface="IBM Plex Sans" panose="020B0503050203000203" pitchFamily="34" charset="0"/>
                          <a:ea typeface="Aptos" panose="020B0004020202020204" pitchFamily="34" charset="0"/>
                          <a:cs typeface="Aptos" panose="020B0004020202020204" pitchFamily="34" charset="0"/>
                        </a:rPr>
                        <a:t>Are the coverages in the policy aligned with my authority &amp; R&amp;Gs? Anything I need to check?</a:t>
                      </a:r>
                      <a:endParaRPr lang="en-GB" sz="2700" b="0" i="0" u="none" strike="noStrike" dirty="0">
                        <a:effectLst/>
                        <a:latin typeface="IBM Plex Sans" panose="020B0503050203000203" pitchFamily="34" charset="0"/>
                      </a:endParaRPr>
                    </a:p>
                  </a:txBody>
                  <a:tcPr marL="104080" marR="104080" marT="14456" marB="0" anchor="ctr">
                    <a:lnL w="12700" cap="flat" cmpd="sng" algn="ctr">
                      <a:solidFill>
                        <a:srgbClr val="00AEC6"/>
                      </a:solidFill>
                      <a:prstDash val="solid"/>
                      <a:round/>
                      <a:headEnd type="none" w="med" len="med"/>
                      <a:tailEnd type="none" w="med" len="med"/>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tc>
                  <a:txBody>
                    <a:bodyPr/>
                    <a:lstStyle/>
                    <a:p>
                      <a:pPr algn="l" fontAlgn="ctr">
                        <a:buNone/>
                      </a:pP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noFill/>
                  </a:tcPr>
                </a:tc>
                <a:tc>
                  <a:txBody>
                    <a:bodyPr/>
                    <a:lstStyle/>
                    <a:p>
                      <a:pPr algn="ctr" fontAlgn="ctr">
                        <a:buNone/>
                      </a:pPr>
                      <a:r>
                        <a:rPr lang="en-GB" sz="1700" b="1" i="0" u="none" strike="noStrike">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a:effectLst/>
                        <a:latin typeface="IBM Plex Sans" panose="020B0503050203000203" pitchFamily="34" charset="0"/>
                      </a:endParaRPr>
                    </a:p>
                  </a:txBody>
                  <a:tcPr marL="104080" marR="104080" marT="14456" marB="0" anchor="ctr">
                    <a:lnL>
                      <a:noFill/>
                    </a:lnL>
                    <a:lnR>
                      <a:noFill/>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tc>
                  <a:txBody>
                    <a:bodyPr/>
                    <a:lstStyle/>
                    <a:p>
                      <a:pPr algn="ctr" fontAlgn="ctr">
                        <a:buNone/>
                      </a:pPr>
                      <a:r>
                        <a:rPr lang="en-GB" sz="1700" b="1" i="0" u="none" strike="noStrike" dirty="0">
                          <a:solidFill>
                            <a:srgbClr val="006100"/>
                          </a:solidFill>
                          <a:effectLst/>
                          <a:latin typeface="IBM Plex Sans" panose="020B0503050203000203" pitchFamily="34" charset="0"/>
                          <a:ea typeface="Aptos" panose="020B0004020202020204" pitchFamily="34" charset="0"/>
                          <a:cs typeface="Aptos" panose="020B0004020202020204" pitchFamily="34" charset="0"/>
                        </a:rPr>
                        <a:t>Yes</a:t>
                      </a:r>
                      <a:endParaRPr lang="en-GB" sz="2700" b="0" i="0" u="none" strike="noStrike" dirty="0">
                        <a:effectLst/>
                        <a:latin typeface="IBM Plex Sans" panose="020B0503050203000203" pitchFamily="34" charset="0"/>
                      </a:endParaRPr>
                    </a:p>
                  </a:txBody>
                  <a:tcPr marL="104080" marR="104080" marT="14456" marB="0" anchor="ctr">
                    <a:lnL>
                      <a:noFill/>
                    </a:lnL>
                    <a:lnR w="12700" cap="flat" cmpd="sng" algn="ctr">
                      <a:solidFill>
                        <a:srgbClr val="00AEC6"/>
                      </a:solidFill>
                      <a:prstDash val="solid"/>
                      <a:round/>
                      <a:headEnd type="none" w="med" len="med"/>
                      <a:tailEnd type="none" w="med" len="med"/>
                    </a:lnR>
                    <a:lnT w="12700" cap="flat" cmpd="sng" algn="ctr">
                      <a:solidFill>
                        <a:srgbClr val="00AEC6"/>
                      </a:solidFill>
                      <a:prstDash val="solid"/>
                      <a:round/>
                      <a:headEnd type="none" w="med" len="med"/>
                      <a:tailEnd type="none" w="med" len="med"/>
                    </a:lnT>
                    <a:lnB w="12700" cap="flat" cmpd="sng" algn="ctr">
                      <a:solidFill>
                        <a:srgbClr val="00AEC6"/>
                      </a:solidFill>
                      <a:prstDash val="solid"/>
                      <a:round/>
                      <a:headEnd type="none" w="med" len="med"/>
                      <a:tailEnd type="none" w="med" len="med"/>
                    </a:lnB>
                    <a:solidFill>
                      <a:srgbClr val="C6EFCE"/>
                    </a:solidFill>
                  </a:tcPr>
                </a:tc>
                <a:extLst>
                  <a:ext uri="{0D108BD9-81ED-4DB2-BD59-A6C34878D82A}">
                    <a16:rowId xmlns:a16="http://schemas.microsoft.com/office/drawing/2014/main" val="2614909833"/>
                  </a:ext>
                </a:extLst>
              </a:tr>
            </a:tbl>
          </a:graphicData>
        </a:graphic>
      </p:graphicFrame>
      <p:sp>
        <p:nvSpPr>
          <p:cNvPr id="4" name="Text Placeholder 3">
            <a:extLst>
              <a:ext uri="{FF2B5EF4-FFF2-40B4-BE49-F238E27FC236}">
                <a16:creationId xmlns:a16="http://schemas.microsoft.com/office/drawing/2014/main" id="{7964B13F-0B9A-387A-E48A-2AC102C3D43A}"/>
              </a:ext>
            </a:extLst>
          </p:cNvPr>
          <p:cNvSpPr txBox="1">
            <a:spLocks/>
          </p:cNvSpPr>
          <p:nvPr/>
        </p:nvSpPr>
        <p:spPr>
          <a:xfrm>
            <a:off x="798153" y="362174"/>
            <a:ext cx="4461652" cy="430887"/>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sym typeface="IBM Plex Sans Light"/>
              </a:rPr>
              <a:t>Sample questions</a:t>
            </a:r>
            <a:endParaRPr lang="en-US" sz="2800" b="0" kern="0" dirty="0">
              <a:solidFill>
                <a:schemeClr val="tx1"/>
              </a:solidFill>
              <a:latin typeface="IBM Plex Sans Light"/>
            </a:endParaRPr>
          </a:p>
        </p:txBody>
      </p:sp>
    </p:spTree>
    <p:extLst>
      <p:ext uri="{BB962C8B-B14F-4D97-AF65-F5344CB8AC3E}">
        <p14:creationId xmlns:p14="http://schemas.microsoft.com/office/powerpoint/2010/main" val="3517274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4">
            <a:extLst>
              <a:ext uri="{FF2B5EF4-FFF2-40B4-BE49-F238E27FC236}">
                <a16:creationId xmlns:a16="http://schemas.microsoft.com/office/drawing/2014/main" id="{E9EC0D28-B655-5D03-E684-D451629C5F6D}"/>
              </a:ext>
            </a:extLst>
          </p:cNvPr>
          <p:cNvSpPr txBox="1">
            <a:spLocks/>
          </p:cNvSpPr>
          <p:nvPr/>
        </p:nvSpPr>
        <p:spPr>
          <a:xfrm>
            <a:off x="1101298" y="2065866"/>
            <a:ext cx="6804451" cy="5232202"/>
          </a:xfrm>
          <a:prstGeom prst="rect">
            <a:avLst/>
          </a:prstGeom>
          <a:noFill/>
        </p:spPr>
        <p:txBody>
          <a:bodyPr wrap="square">
            <a:spAutoFit/>
          </a:bodyPr>
          <a:lstStyle>
            <a:defPPr>
              <a:defRPr lang="en-US"/>
            </a:defPPr>
            <a:lvl1pPr>
              <a:defRPr sz="1400" b="0"/>
            </a:lvl1pPr>
          </a:lstStyle>
          <a:p>
            <a:r>
              <a:rPr lang="en-GB" sz="1600" dirty="0">
                <a:solidFill>
                  <a:srgbClr val="0432FF"/>
                </a:solidFill>
                <a:latin typeface="IBM Plex Sans" panose="020B0503050203000203" pitchFamily="34" charset="0"/>
              </a:rPr>
              <a:t>Underwriter Time Savings</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IBM Plex Sans" panose="020B0503050203000203" pitchFamily="34" charset="0"/>
              </a:rPr>
              <a:t>Automating referral decisions and enabling workflow automation can reduce the current 30–60 minutes spent per quote on manual referral checks. With approximately 200,000 policies underwritten globally and 2–3 quotes per policy, automating even 50% of this effort represents significant efficiency gains.</a:t>
            </a:r>
          </a:p>
          <a:p>
            <a:endParaRPr lang="en-GB" sz="1200" dirty="0">
              <a:latin typeface="IBM Plex Sans" panose="020B0503050203000203" pitchFamily="34" charset="0"/>
            </a:endParaRPr>
          </a:p>
          <a:p>
            <a:endParaRPr lang="en-GB" sz="1200" dirty="0">
              <a:latin typeface="IBM Plex Sans" panose="020B0503050203000203" pitchFamily="34" charset="0"/>
            </a:endParaRPr>
          </a:p>
          <a:p>
            <a:r>
              <a:rPr lang="en-GB" sz="1600" dirty="0">
                <a:solidFill>
                  <a:srgbClr val="0432FF"/>
                </a:solidFill>
                <a:latin typeface="IBM Plex Sans" panose="020B0503050203000203" pitchFamily="34" charset="0"/>
              </a:rPr>
              <a:t>Cost avoidance</a:t>
            </a:r>
            <a:endParaRPr lang="en-GB" sz="300" dirty="0">
              <a:solidFill>
                <a:schemeClr val="accent5"/>
              </a:solidFill>
              <a:latin typeface="IBM Plex Sans" panose="020B0503050203000203" pitchFamily="34" charset="0"/>
            </a:endParaRPr>
          </a:p>
          <a:p>
            <a:r>
              <a:rPr lang="en-GB" dirty="0">
                <a:latin typeface="IBM Plex Sans" panose="020B0503050203000203" pitchFamily="34" charset="0"/>
              </a:rPr>
              <a:t>Underwriters currently spend about one hour per policy for manual control checks, with each underwriter reviewing four policies per year (across 2,000 underwriters). By eliminating 70–80% of this effort, the organization can potentially avoid significant manual costs. At an estimated $150,000 per underwriter, the cumulative savings opportunity is considerable when scaled across the underwriting workforce.</a:t>
            </a:r>
          </a:p>
          <a:p>
            <a:endParaRPr lang="en-GB" sz="1200" dirty="0">
              <a:latin typeface="IBM Plex Sans" panose="020B0503050203000203" pitchFamily="34" charset="0"/>
            </a:endParaRPr>
          </a:p>
          <a:p>
            <a:endParaRPr lang="en-GB" sz="1200" dirty="0">
              <a:latin typeface="IBM Plex Sans" panose="020B0503050203000203" pitchFamily="34" charset="0"/>
            </a:endParaRPr>
          </a:p>
          <a:p>
            <a:r>
              <a:rPr lang="en-GB" sz="1600" dirty="0">
                <a:solidFill>
                  <a:srgbClr val="0432FF"/>
                </a:solidFill>
                <a:latin typeface="IBM Plex Sans" panose="020B0503050203000203" pitchFamily="34" charset="0"/>
              </a:rPr>
              <a:t>Strengthened Risk and Compliance Controls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IBM Plex Sans" panose="020B0503050203000203" pitchFamily="34" charset="0"/>
              </a:rPr>
              <a:t>Currently, more than 50 different reasons can trigger a referral, varying by jurisdiction, industry, distribution model, and insured product/service. Multiple layers of manual checks introduce the risk of human error. The AI-driven solution will enhance control robustness by automating and strengthening these processes, making controls more preventative rather than sample-based and reactive.</a:t>
            </a:r>
          </a:p>
          <a:p>
            <a:endParaRPr lang="en-GB" dirty="0">
              <a:latin typeface="IBM Plex Sans" panose="020B0503050203000203" pitchFamily="34" charset="0"/>
            </a:endParaRPr>
          </a:p>
          <a:p>
            <a:endParaRPr lang="en-GB" i="1" dirty="0">
              <a:latin typeface="IBM Plex Sans" panose="020B0503050203000203" pitchFamily="34" charset="0"/>
            </a:endParaRPr>
          </a:p>
        </p:txBody>
      </p:sp>
      <p:sp>
        <p:nvSpPr>
          <p:cNvPr id="40" name="Rectangle 39" descr="Blue 10 quarter slide background">
            <a:extLst>
              <a:ext uri="{FF2B5EF4-FFF2-40B4-BE49-F238E27FC236}">
                <a16:creationId xmlns:a16="http://schemas.microsoft.com/office/drawing/2014/main" id="{F6555831-ECB6-D288-0870-76178E56E96C}"/>
              </a:ext>
            </a:extLst>
          </p:cNvPr>
          <p:cNvSpPr/>
          <p:nvPr/>
        </p:nvSpPr>
        <p:spPr bwMode="auto">
          <a:xfrm rot="16200000">
            <a:off x="6625541" y="1291540"/>
            <a:ext cx="6858004" cy="4274916"/>
          </a:xfrm>
          <a:prstGeom prst="rect">
            <a:avLst/>
          </a:prstGeom>
          <a:solidFill>
            <a:srgbClr val="CDE3F5">
              <a:alpha val="5037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fontAlgn="base">
              <a:spcBef>
                <a:spcPct val="0"/>
              </a:spcBef>
              <a:spcAft>
                <a:spcPct val="0"/>
              </a:spcAft>
            </a:pPr>
            <a:endParaRPr lang="en-RO" sz="1400">
              <a:solidFill>
                <a:srgbClr val="FFFFFF"/>
              </a:solidFill>
              <a:latin typeface="IBM Plex Sans Light"/>
            </a:endParaRPr>
          </a:p>
        </p:txBody>
      </p:sp>
      <p:sp>
        <p:nvSpPr>
          <p:cNvPr id="4" name="Text Placeholder 3">
            <a:extLst>
              <a:ext uri="{FF2B5EF4-FFF2-40B4-BE49-F238E27FC236}">
                <a16:creationId xmlns:a16="http://schemas.microsoft.com/office/drawing/2014/main" id="{27D34565-73B2-D9CF-D3AE-8831D54A958F}"/>
              </a:ext>
            </a:extLst>
          </p:cNvPr>
          <p:cNvSpPr txBox="1">
            <a:spLocks/>
          </p:cNvSpPr>
          <p:nvPr/>
        </p:nvSpPr>
        <p:spPr>
          <a:xfrm>
            <a:off x="302854" y="228824"/>
            <a:ext cx="7830718" cy="430887"/>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sym typeface="IBM Plex Sans Light"/>
              </a:rPr>
              <a:t>Value Proposition</a:t>
            </a:r>
            <a:endParaRPr lang="en-US" sz="2800" b="0" kern="0" dirty="0">
              <a:solidFill>
                <a:schemeClr val="tx1"/>
              </a:solidFill>
              <a:latin typeface="IBM Plex Sans Light"/>
            </a:endParaRPr>
          </a:p>
        </p:txBody>
      </p:sp>
      <p:grpSp>
        <p:nvGrpSpPr>
          <p:cNvPr id="2" name="Group 1">
            <a:extLst>
              <a:ext uri="{FF2B5EF4-FFF2-40B4-BE49-F238E27FC236}">
                <a16:creationId xmlns:a16="http://schemas.microsoft.com/office/drawing/2014/main" id="{7E1A85FE-B5EA-8359-AC95-4075998DF6A2}"/>
              </a:ext>
            </a:extLst>
          </p:cNvPr>
          <p:cNvGrpSpPr/>
          <p:nvPr/>
        </p:nvGrpSpPr>
        <p:grpSpPr>
          <a:xfrm>
            <a:off x="7766612" y="1246018"/>
            <a:ext cx="4794355" cy="4878242"/>
            <a:chOff x="5924924" y="332828"/>
            <a:chExt cx="6986990" cy="6799158"/>
          </a:xfrm>
        </p:grpSpPr>
        <p:grpSp>
          <p:nvGrpSpPr>
            <p:cNvPr id="3" name="Group 2">
              <a:extLst>
                <a:ext uri="{FF2B5EF4-FFF2-40B4-BE49-F238E27FC236}">
                  <a16:creationId xmlns:a16="http://schemas.microsoft.com/office/drawing/2014/main" id="{1B410FB0-105E-B469-2A33-7D4A28701A02}"/>
                </a:ext>
              </a:extLst>
            </p:cNvPr>
            <p:cNvGrpSpPr>
              <a:grpSpLocks noChangeAspect="1"/>
            </p:cNvGrpSpPr>
            <p:nvPr/>
          </p:nvGrpSpPr>
          <p:grpSpPr>
            <a:xfrm>
              <a:off x="5924924" y="332828"/>
              <a:ext cx="5313907" cy="5127907"/>
              <a:chOff x="6681967" y="-107682"/>
              <a:chExt cx="6857546" cy="6617516"/>
            </a:xfrm>
          </p:grpSpPr>
          <p:grpSp>
            <p:nvGrpSpPr>
              <p:cNvPr id="6" name="Group 5">
                <a:extLst>
                  <a:ext uri="{FF2B5EF4-FFF2-40B4-BE49-F238E27FC236}">
                    <a16:creationId xmlns:a16="http://schemas.microsoft.com/office/drawing/2014/main" id="{9E1D7C65-6A22-A29C-143A-6114460DF0F0}"/>
                  </a:ext>
                </a:extLst>
              </p:cNvPr>
              <p:cNvGrpSpPr>
                <a:grpSpLocks noChangeAspect="1"/>
              </p:cNvGrpSpPr>
              <p:nvPr/>
            </p:nvGrpSpPr>
            <p:grpSpPr>
              <a:xfrm>
                <a:off x="6681967" y="-107682"/>
                <a:ext cx="6685440" cy="6617516"/>
                <a:chOff x="6681967" y="-107682"/>
                <a:chExt cx="6685440" cy="6617516"/>
              </a:xfrm>
            </p:grpSpPr>
            <p:pic>
              <p:nvPicPr>
                <p:cNvPr id="9" name="Graphic 8">
                  <a:extLst>
                    <a:ext uri="{FF2B5EF4-FFF2-40B4-BE49-F238E27FC236}">
                      <a16:creationId xmlns:a16="http://schemas.microsoft.com/office/drawing/2014/main" id="{FABE2666-7810-042A-F40D-F5B1E87763B0}"/>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681967" y="-107682"/>
                  <a:ext cx="6576143" cy="6576137"/>
                </a:xfrm>
                <a:custGeom>
                  <a:avLst/>
                  <a:gdLst>
                    <a:gd name="connsiteX0" fmla="*/ 0 w 6576143"/>
                    <a:gd name="connsiteY0" fmla="*/ 0 h 6576137"/>
                    <a:gd name="connsiteX1" fmla="*/ 3548655 w 6576143"/>
                    <a:gd name="connsiteY1" fmla="*/ 0 h 6576137"/>
                    <a:gd name="connsiteX2" fmla="*/ 3548655 w 6576143"/>
                    <a:gd name="connsiteY2" fmla="*/ 1269368 h 6576137"/>
                    <a:gd name="connsiteX3" fmla="*/ 3528672 w 6576143"/>
                    <a:gd name="connsiteY3" fmla="*/ 1273331 h 6576137"/>
                    <a:gd name="connsiteX4" fmla="*/ 3401309 w 6576143"/>
                    <a:gd name="connsiteY4" fmla="*/ 1315889 h 6576137"/>
                    <a:gd name="connsiteX5" fmla="*/ 3401309 w 6576143"/>
                    <a:gd name="connsiteY5" fmla="*/ 136786 h 6576137"/>
                    <a:gd name="connsiteX6" fmla="*/ 1970495 w 6576143"/>
                    <a:gd name="connsiteY6" fmla="*/ 136786 h 6576137"/>
                    <a:gd name="connsiteX7" fmla="*/ 1970495 w 6576143"/>
                    <a:gd name="connsiteY7" fmla="*/ 1473883 h 6576137"/>
                    <a:gd name="connsiteX8" fmla="*/ 3086236 w 6576143"/>
                    <a:gd name="connsiteY8" fmla="*/ 1473883 h 6576137"/>
                    <a:gd name="connsiteX9" fmla="*/ 3025525 w 6576143"/>
                    <a:gd name="connsiteY9" fmla="*/ 1511890 h 6576137"/>
                    <a:gd name="connsiteX10" fmla="*/ 2077881 w 6576143"/>
                    <a:gd name="connsiteY10" fmla="*/ 3358653 h 6576137"/>
                    <a:gd name="connsiteX11" fmla="*/ 2075541 w 6576143"/>
                    <a:gd name="connsiteY11" fmla="*/ 3418875 h 6576137"/>
                    <a:gd name="connsiteX12" fmla="*/ 1627371 w 6576143"/>
                    <a:gd name="connsiteY12" fmla="*/ 3418875 h 6576137"/>
                    <a:gd name="connsiteX13" fmla="*/ 1627371 w 6576143"/>
                    <a:gd name="connsiteY13" fmla="*/ 4940747 h 6576137"/>
                    <a:gd name="connsiteX14" fmla="*/ 3548655 w 6576143"/>
                    <a:gd name="connsiteY14" fmla="*/ 4940747 h 6576137"/>
                    <a:gd name="connsiteX15" fmla="*/ 3548655 w 6576143"/>
                    <a:gd name="connsiteY15" fmla="*/ 6480949 h 6576137"/>
                    <a:gd name="connsiteX16" fmla="*/ 6576143 w 6576143"/>
                    <a:gd name="connsiteY16" fmla="*/ 6480949 h 6576137"/>
                    <a:gd name="connsiteX17" fmla="*/ 6576143 w 6576143"/>
                    <a:gd name="connsiteY17" fmla="*/ 6576137 h 6576137"/>
                    <a:gd name="connsiteX18" fmla="*/ 0 w 6576143"/>
                    <a:gd name="connsiteY18" fmla="*/ 6576137 h 657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576143" h="6576137">
                      <a:moveTo>
                        <a:pt x="0" y="0"/>
                      </a:moveTo>
                      <a:lnTo>
                        <a:pt x="3548655" y="0"/>
                      </a:lnTo>
                      <a:lnTo>
                        <a:pt x="3548655" y="1269368"/>
                      </a:lnTo>
                      <a:lnTo>
                        <a:pt x="3528672" y="1273331"/>
                      </a:lnTo>
                      <a:lnTo>
                        <a:pt x="3401309" y="1315889"/>
                      </a:lnTo>
                      <a:lnTo>
                        <a:pt x="3401309" y="136786"/>
                      </a:lnTo>
                      <a:lnTo>
                        <a:pt x="1970495" y="136786"/>
                      </a:lnTo>
                      <a:lnTo>
                        <a:pt x="1970495" y="1473883"/>
                      </a:lnTo>
                      <a:lnTo>
                        <a:pt x="3086236" y="1473883"/>
                      </a:lnTo>
                      <a:lnTo>
                        <a:pt x="3025525" y="1511890"/>
                      </a:lnTo>
                      <a:cubicBezTo>
                        <a:pt x="2507267" y="1877755"/>
                        <a:pt x="2140316" y="2559710"/>
                        <a:pt x="2077881" y="3358653"/>
                      </a:cubicBezTo>
                      <a:lnTo>
                        <a:pt x="2075541" y="3418875"/>
                      </a:lnTo>
                      <a:lnTo>
                        <a:pt x="1627371" y="3418875"/>
                      </a:lnTo>
                      <a:lnTo>
                        <a:pt x="1627371" y="4940747"/>
                      </a:lnTo>
                      <a:lnTo>
                        <a:pt x="3548655" y="4940747"/>
                      </a:lnTo>
                      <a:lnTo>
                        <a:pt x="3548655" y="6480949"/>
                      </a:lnTo>
                      <a:lnTo>
                        <a:pt x="6576143" y="6480949"/>
                      </a:lnTo>
                      <a:lnTo>
                        <a:pt x="6576143" y="6576137"/>
                      </a:lnTo>
                      <a:lnTo>
                        <a:pt x="0" y="6576137"/>
                      </a:lnTo>
                      <a:close/>
                    </a:path>
                  </a:pathLst>
                </a:custGeom>
              </p:spPr>
            </p:pic>
            <p:sp>
              <p:nvSpPr>
                <p:cNvPr id="10" name="Freeform 54">
                  <a:extLst>
                    <a:ext uri="{FF2B5EF4-FFF2-40B4-BE49-F238E27FC236}">
                      <a16:creationId xmlns:a16="http://schemas.microsoft.com/office/drawing/2014/main" id="{B6A49572-9173-B62A-CD68-2FEBBD3C9771}"/>
                    </a:ext>
                  </a:extLst>
                </p:cNvPr>
                <p:cNvSpPr/>
                <p:nvPr/>
              </p:nvSpPr>
              <p:spPr bwMode="auto">
                <a:xfrm>
                  <a:off x="8756804" y="3312811"/>
                  <a:ext cx="1753638" cy="876818"/>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1" name="Freeform 55">
                  <a:extLst>
                    <a:ext uri="{FF2B5EF4-FFF2-40B4-BE49-F238E27FC236}">
                      <a16:creationId xmlns:a16="http://schemas.microsoft.com/office/drawing/2014/main" id="{6C0D8550-A6C4-AF9A-4EE6-BE77A4BFF7D1}"/>
                    </a:ext>
                  </a:extLst>
                </p:cNvPr>
                <p:cNvSpPr/>
                <p:nvPr/>
              </p:nvSpPr>
              <p:spPr bwMode="auto">
                <a:xfrm flipV="1">
                  <a:off x="8761962" y="4189628"/>
                  <a:ext cx="1753638" cy="876818"/>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A56EFF">
                    <a:alpha val="49909"/>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2" name="Freeform 57">
                  <a:extLst>
                    <a:ext uri="{FF2B5EF4-FFF2-40B4-BE49-F238E27FC236}">
                      <a16:creationId xmlns:a16="http://schemas.microsoft.com/office/drawing/2014/main" id="{F5A7A090-D43B-61DA-ABB7-9CA98180871A}"/>
                    </a:ext>
                  </a:extLst>
                </p:cNvPr>
                <p:cNvSpPr>
                  <a:spLocks noChangeAspect="1"/>
                </p:cNvSpPr>
                <p:nvPr/>
              </p:nvSpPr>
              <p:spPr bwMode="auto">
                <a:xfrm>
                  <a:off x="8769398" y="3321579"/>
                  <a:ext cx="876819" cy="876818"/>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3" name="Oval 12">
                  <a:extLst>
                    <a:ext uri="{FF2B5EF4-FFF2-40B4-BE49-F238E27FC236}">
                      <a16:creationId xmlns:a16="http://schemas.microsoft.com/office/drawing/2014/main" id="{AA7829FA-E851-D7FE-E168-AA3263C39645}"/>
                    </a:ext>
                  </a:extLst>
                </p:cNvPr>
                <p:cNvSpPr>
                  <a:spLocks noChangeAspect="1"/>
                </p:cNvSpPr>
                <p:nvPr/>
              </p:nvSpPr>
              <p:spPr bwMode="auto">
                <a:xfrm rot="2700000">
                  <a:off x="9284519" y="3851894"/>
                  <a:ext cx="657614" cy="657614"/>
                </a:xfrm>
                <a:prstGeom prst="ellipse">
                  <a:avLst/>
                </a:prstGeom>
                <a:solidFill>
                  <a:srgbClr val="A56EFF">
                    <a:alpha val="4995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grpSp>
              <p:nvGrpSpPr>
                <p:cNvPr id="14" name="Group 13">
                  <a:extLst>
                    <a:ext uri="{FF2B5EF4-FFF2-40B4-BE49-F238E27FC236}">
                      <a16:creationId xmlns:a16="http://schemas.microsoft.com/office/drawing/2014/main" id="{A3FE6E31-91BE-DF95-E87F-3DAA7E11BB4C}"/>
                    </a:ext>
                  </a:extLst>
                </p:cNvPr>
                <p:cNvGrpSpPr/>
                <p:nvPr/>
              </p:nvGrpSpPr>
              <p:grpSpPr>
                <a:xfrm flipH="1">
                  <a:off x="9963401" y="4440567"/>
                  <a:ext cx="1753638" cy="2069267"/>
                  <a:chOff x="13331406" y="1996961"/>
                  <a:chExt cx="1828800" cy="2157959"/>
                </a:xfrm>
              </p:grpSpPr>
              <p:sp>
                <p:nvSpPr>
                  <p:cNvPr id="21" name="Freeform 61">
                    <a:extLst>
                      <a:ext uri="{FF2B5EF4-FFF2-40B4-BE49-F238E27FC236}">
                        <a16:creationId xmlns:a16="http://schemas.microsoft.com/office/drawing/2014/main" id="{87DBDADE-C6A3-4A54-3919-E0F80F3C3055}"/>
                      </a:ext>
                    </a:extLst>
                  </p:cNvPr>
                  <p:cNvSpPr/>
                  <p:nvPr/>
                </p:nvSpPr>
                <p:spPr bwMode="auto">
                  <a:xfrm flipV="1">
                    <a:off x="13331406" y="3240520"/>
                    <a:ext cx="1828800" cy="914400"/>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chemeClr val="accent1">
                      <a:alpha val="6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2" name="Freeform 63">
                    <a:extLst>
                      <a:ext uri="{FF2B5EF4-FFF2-40B4-BE49-F238E27FC236}">
                        <a16:creationId xmlns:a16="http://schemas.microsoft.com/office/drawing/2014/main" id="{16C34E7B-CBC4-E1EE-A1AC-93EE2ED32699}"/>
                      </a:ext>
                    </a:extLst>
                  </p:cNvPr>
                  <p:cNvSpPr/>
                  <p:nvPr/>
                </p:nvSpPr>
                <p:spPr bwMode="auto">
                  <a:xfrm rot="2700000">
                    <a:off x="13669984" y="2454161"/>
                    <a:ext cx="1828800" cy="914400"/>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3" name="Oval 22">
                    <a:extLst>
                      <a:ext uri="{FF2B5EF4-FFF2-40B4-BE49-F238E27FC236}">
                        <a16:creationId xmlns:a16="http://schemas.microsoft.com/office/drawing/2014/main" id="{466487F2-BBEF-BDB7-A0A9-49F03DB83A4B}"/>
                      </a:ext>
                    </a:extLst>
                  </p:cNvPr>
                  <p:cNvSpPr>
                    <a:spLocks noChangeAspect="1"/>
                  </p:cNvSpPr>
                  <p:nvPr/>
                </p:nvSpPr>
                <p:spPr bwMode="auto">
                  <a:xfrm rot="2700000">
                    <a:off x="13908940" y="2888962"/>
                    <a:ext cx="685800" cy="685800"/>
                  </a:xfrm>
                  <a:prstGeom prst="ellipse">
                    <a:avLst/>
                  </a:prstGeom>
                  <a:solidFill>
                    <a:srgbClr val="A56EFF">
                      <a:alpha val="4995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grpSp>
            <p:sp>
              <p:nvSpPr>
                <p:cNvPr id="16" name="Cross 15">
                  <a:extLst>
                    <a:ext uri="{FF2B5EF4-FFF2-40B4-BE49-F238E27FC236}">
                      <a16:creationId xmlns:a16="http://schemas.microsoft.com/office/drawing/2014/main" id="{2F8F5744-5F10-090C-561D-00305305CF10}"/>
                    </a:ext>
                  </a:extLst>
                </p:cNvPr>
                <p:cNvSpPr>
                  <a:spLocks noChangeAspect="1"/>
                </p:cNvSpPr>
                <p:nvPr/>
              </p:nvSpPr>
              <p:spPr bwMode="auto">
                <a:xfrm rot="2700000">
                  <a:off x="10172597" y="2106675"/>
                  <a:ext cx="1315227" cy="1315229"/>
                </a:xfrm>
                <a:prstGeom prst="plus">
                  <a:avLst>
                    <a:gd name="adj" fmla="val 33333"/>
                  </a:avLst>
                </a:prstGeom>
                <a:solidFill>
                  <a:schemeClr val="accent1">
                    <a:alpha val="4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7" name="Cross 16">
                  <a:extLst>
                    <a:ext uri="{FF2B5EF4-FFF2-40B4-BE49-F238E27FC236}">
                      <a16:creationId xmlns:a16="http://schemas.microsoft.com/office/drawing/2014/main" id="{23357ABC-2056-9EA9-CD76-0C405DF6C31A}"/>
                    </a:ext>
                  </a:extLst>
                </p:cNvPr>
                <p:cNvSpPr>
                  <a:spLocks noChangeAspect="1"/>
                </p:cNvSpPr>
                <p:nvPr/>
              </p:nvSpPr>
              <p:spPr bwMode="auto">
                <a:xfrm rot="2700000">
                  <a:off x="8744950" y="48462"/>
                  <a:ext cx="1315227" cy="1315229"/>
                </a:xfrm>
                <a:prstGeom prst="plus">
                  <a:avLst>
                    <a:gd name="adj" fmla="val 33333"/>
                  </a:avLst>
                </a:prstGeom>
                <a:solidFill>
                  <a:srgbClr val="33B1FF">
                    <a:alpha val="8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8" name="Cross 17">
                  <a:extLst>
                    <a:ext uri="{FF2B5EF4-FFF2-40B4-BE49-F238E27FC236}">
                      <a16:creationId xmlns:a16="http://schemas.microsoft.com/office/drawing/2014/main" id="{8AB1B79E-269C-4DD0-D307-2EBE99CF8D7E}"/>
                    </a:ext>
                  </a:extLst>
                </p:cNvPr>
                <p:cNvSpPr>
                  <a:spLocks noChangeAspect="1"/>
                </p:cNvSpPr>
                <p:nvPr/>
              </p:nvSpPr>
              <p:spPr bwMode="auto">
                <a:xfrm rot="2700000">
                  <a:off x="12052179" y="1492450"/>
                  <a:ext cx="1315227" cy="1315229"/>
                </a:xfrm>
                <a:prstGeom prst="plus">
                  <a:avLst>
                    <a:gd name="adj" fmla="val 33333"/>
                  </a:avLst>
                </a:pr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0" name="Cross 19">
                  <a:extLst>
                    <a:ext uri="{FF2B5EF4-FFF2-40B4-BE49-F238E27FC236}">
                      <a16:creationId xmlns:a16="http://schemas.microsoft.com/office/drawing/2014/main" id="{DD354E73-944A-EBFD-5907-3E1CA1BF3844}"/>
                    </a:ext>
                  </a:extLst>
                </p:cNvPr>
                <p:cNvSpPr>
                  <a:spLocks noChangeAspect="1"/>
                </p:cNvSpPr>
                <p:nvPr/>
              </p:nvSpPr>
              <p:spPr bwMode="auto">
                <a:xfrm rot="2700000">
                  <a:off x="7892394" y="2122805"/>
                  <a:ext cx="1315227" cy="1315229"/>
                </a:xfrm>
                <a:prstGeom prst="plus">
                  <a:avLst>
                    <a:gd name="adj" fmla="val 33333"/>
                  </a:avLst>
                </a:prstGeom>
                <a:solidFill>
                  <a:schemeClr val="accent1">
                    <a:alpha val="4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grpSp>
          <p:pic>
            <p:nvPicPr>
              <p:cNvPr id="8" name="Graphic 7">
                <a:extLst>
                  <a:ext uri="{FF2B5EF4-FFF2-40B4-BE49-F238E27FC236}">
                    <a16:creationId xmlns:a16="http://schemas.microsoft.com/office/drawing/2014/main" id="{FB11AAC7-82E1-933D-186A-72E5C741ACF5}"/>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963370" y="-86993"/>
                <a:ext cx="6576143" cy="6576137"/>
              </a:xfrm>
              <a:custGeom>
                <a:avLst/>
                <a:gdLst>
                  <a:gd name="connsiteX0" fmla="*/ 0 w 6576143"/>
                  <a:gd name="connsiteY0" fmla="*/ 6387241 h 6576137"/>
                  <a:gd name="connsiteX1" fmla="*/ 1372939 w 6576143"/>
                  <a:gd name="connsiteY1" fmla="*/ 6387241 h 6576137"/>
                  <a:gd name="connsiteX2" fmla="*/ 1372939 w 6576143"/>
                  <a:gd name="connsiteY2" fmla="*/ 6576137 h 6576137"/>
                  <a:gd name="connsiteX3" fmla="*/ 0 w 6576143"/>
                  <a:gd name="connsiteY3" fmla="*/ 6576137 h 6576137"/>
                  <a:gd name="connsiteX4" fmla="*/ 4742748 w 6576143"/>
                  <a:gd name="connsiteY4" fmla="*/ 6228825 h 6576137"/>
                  <a:gd name="connsiteX5" fmla="*/ 6576143 w 6576143"/>
                  <a:gd name="connsiteY5" fmla="*/ 6228825 h 6576137"/>
                  <a:gd name="connsiteX6" fmla="*/ 6576143 w 6576143"/>
                  <a:gd name="connsiteY6" fmla="*/ 6576137 h 6576137"/>
                  <a:gd name="connsiteX7" fmla="*/ 4742748 w 6576143"/>
                  <a:gd name="connsiteY7" fmla="*/ 6576137 h 6576137"/>
                  <a:gd name="connsiteX8" fmla="*/ 0 w 6576143"/>
                  <a:gd name="connsiteY8" fmla="*/ 0 h 6576137"/>
                  <a:gd name="connsiteX9" fmla="*/ 6576143 w 6576143"/>
                  <a:gd name="connsiteY9" fmla="*/ 0 h 6576137"/>
                  <a:gd name="connsiteX10" fmla="*/ 6576143 w 6576143"/>
                  <a:gd name="connsiteY10" fmla="*/ 2488670 h 6576137"/>
                  <a:gd name="connsiteX11" fmla="*/ 6094425 w 6576143"/>
                  <a:gd name="connsiteY11" fmla="*/ 2488670 h 6576137"/>
                  <a:gd name="connsiteX12" fmla="*/ 5870810 w 6576143"/>
                  <a:gd name="connsiteY12" fmla="*/ 2265055 h 6576137"/>
                  <a:gd name="connsiteX13" fmla="*/ 6180809 w 6576143"/>
                  <a:gd name="connsiteY13" fmla="*/ 1955056 h 6576137"/>
                  <a:gd name="connsiteX14" fmla="*/ 5870801 w 6576143"/>
                  <a:gd name="connsiteY14" fmla="*/ 1645048 h 6576137"/>
                  <a:gd name="connsiteX15" fmla="*/ 5560801 w 6576143"/>
                  <a:gd name="connsiteY15" fmla="*/ 1955047 h 6576137"/>
                  <a:gd name="connsiteX16" fmla="*/ 5250802 w 6576143"/>
                  <a:gd name="connsiteY16" fmla="*/ 1645048 h 6576137"/>
                  <a:gd name="connsiteX17" fmla="*/ 4940793 w 6576143"/>
                  <a:gd name="connsiteY17" fmla="*/ 1955056 h 6576137"/>
                  <a:gd name="connsiteX18" fmla="*/ 5250792 w 6576143"/>
                  <a:gd name="connsiteY18" fmla="*/ 2265055 h 6576137"/>
                  <a:gd name="connsiteX19" fmla="*/ 5027177 w 6576143"/>
                  <a:gd name="connsiteY19" fmla="*/ 2488670 h 6576137"/>
                  <a:gd name="connsiteX20" fmla="*/ 4683873 w 6576143"/>
                  <a:gd name="connsiteY20" fmla="*/ 2488670 h 6576137"/>
                  <a:gd name="connsiteX21" fmla="*/ 4454476 w 6576143"/>
                  <a:gd name="connsiteY21" fmla="*/ 2259273 h 6576137"/>
                  <a:gd name="connsiteX22" fmla="*/ 4225079 w 6576143"/>
                  <a:gd name="connsiteY22" fmla="*/ 2488670 h 6576137"/>
                  <a:gd name="connsiteX23" fmla="*/ 4063875 w 6576143"/>
                  <a:gd name="connsiteY23" fmla="*/ 2488670 h 6576137"/>
                  <a:gd name="connsiteX24" fmla="*/ 3834477 w 6576143"/>
                  <a:gd name="connsiteY24" fmla="*/ 2259273 h 6576137"/>
                  <a:gd name="connsiteX25" fmla="*/ 3524469 w 6576143"/>
                  <a:gd name="connsiteY25" fmla="*/ 2569282 h 6576137"/>
                  <a:gd name="connsiteX26" fmla="*/ 3623473 w 6576143"/>
                  <a:gd name="connsiteY26" fmla="*/ 2668286 h 6576137"/>
                  <a:gd name="connsiteX27" fmla="*/ 3623473 w 6576143"/>
                  <a:gd name="connsiteY27" fmla="*/ 3090276 h 6576137"/>
                  <a:gd name="connsiteX28" fmla="*/ 3524469 w 6576143"/>
                  <a:gd name="connsiteY28" fmla="*/ 3189280 h 6576137"/>
                  <a:gd name="connsiteX29" fmla="*/ 3623473 w 6576143"/>
                  <a:gd name="connsiteY29" fmla="*/ 3288284 h 6576137"/>
                  <a:gd name="connsiteX30" fmla="*/ 3623473 w 6576143"/>
                  <a:gd name="connsiteY30" fmla="*/ 3418875 h 6576137"/>
                  <a:gd name="connsiteX31" fmla="*/ 2127779 w 6576143"/>
                  <a:gd name="connsiteY31" fmla="*/ 3418875 h 6576137"/>
                  <a:gd name="connsiteX32" fmla="*/ 2127779 w 6576143"/>
                  <a:gd name="connsiteY32" fmla="*/ 1473882 h 6576137"/>
                  <a:gd name="connsiteX33" fmla="*/ 3401309 w 6576143"/>
                  <a:gd name="connsiteY33" fmla="*/ 1473882 h 6576137"/>
                  <a:gd name="connsiteX34" fmla="*/ 3401309 w 6576143"/>
                  <a:gd name="connsiteY34" fmla="*/ 136786 h 6576137"/>
                  <a:gd name="connsiteX35" fmla="*/ 1970495 w 6576143"/>
                  <a:gd name="connsiteY35" fmla="*/ 136786 h 6576137"/>
                  <a:gd name="connsiteX36" fmla="*/ 1970495 w 6576143"/>
                  <a:gd name="connsiteY36" fmla="*/ 442936 h 6576137"/>
                  <a:gd name="connsiteX37" fmla="*/ 0 w 6576143"/>
                  <a:gd name="connsiteY37" fmla="*/ 442936 h 657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576143" h="6576137">
                    <a:moveTo>
                      <a:pt x="0" y="6387241"/>
                    </a:moveTo>
                    <a:lnTo>
                      <a:pt x="1372939" y="6387241"/>
                    </a:lnTo>
                    <a:lnTo>
                      <a:pt x="1372939" y="6576137"/>
                    </a:lnTo>
                    <a:lnTo>
                      <a:pt x="0" y="6576137"/>
                    </a:lnTo>
                    <a:close/>
                    <a:moveTo>
                      <a:pt x="4742748" y="6228825"/>
                    </a:moveTo>
                    <a:lnTo>
                      <a:pt x="6576143" y="6228825"/>
                    </a:lnTo>
                    <a:lnTo>
                      <a:pt x="6576143" y="6576137"/>
                    </a:lnTo>
                    <a:lnTo>
                      <a:pt x="4742748" y="6576137"/>
                    </a:lnTo>
                    <a:close/>
                    <a:moveTo>
                      <a:pt x="0" y="0"/>
                    </a:moveTo>
                    <a:lnTo>
                      <a:pt x="6576143" y="0"/>
                    </a:lnTo>
                    <a:lnTo>
                      <a:pt x="6576143" y="2488670"/>
                    </a:lnTo>
                    <a:lnTo>
                      <a:pt x="6094425" y="2488670"/>
                    </a:lnTo>
                    <a:lnTo>
                      <a:pt x="5870810" y="2265055"/>
                    </a:lnTo>
                    <a:lnTo>
                      <a:pt x="6180809" y="1955056"/>
                    </a:lnTo>
                    <a:lnTo>
                      <a:pt x="5870801" y="1645048"/>
                    </a:lnTo>
                    <a:lnTo>
                      <a:pt x="5560801" y="1955047"/>
                    </a:lnTo>
                    <a:lnTo>
                      <a:pt x="5250802" y="1645048"/>
                    </a:lnTo>
                    <a:lnTo>
                      <a:pt x="4940793" y="1955056"/>
                    </a:lnTo>
                    <a:lnTo>
                      <a:pt x="5250792" y="2265055"/>
                    </a:lnTo>
                    <a:lnTo>
                      <a:pt x="5027177" y="2488670"/>
                    </a:lnTo>
                    <a:lnTo>
                      <a:pt x="4683873" y="2488670"/>
                    </a:lnTo>
                    <a:lnTo>
                      <a:pt x="4454476" y="2259273"/>
                    </a:lnTo>
                    <a:lnTo>
                      <a:pt x="4225079" y="2488670"/>
                    </a:lnTo>
                    <a:lnTo>
                      <a:pt x="4063875" y="2488670"/>
                    </a:lnTo>
                    <a:lnTo>
                      <a:pt x="3834477" y="2259273"/>
                    </a:lnTo>
                    <a:lnTo>
                      <a:pt x="3524469" y="2569282"/>
                    </a:lnTo>
                    <a:lnTo>
                      <a:pt x="3623473" y="2668286"/>
                    </a:lnTo>
                    <a:lnTo>
                      <a:pt x="3623473" y="3090276"/>
                    </a:lnTo>
                    <a:lnTo>
                      <a:pt x="3524469" y="3189280"/>
                    </a:lnTo>
                    <a:lnTo>
                      <a:pt x="3623473" y="3288284"/>
                    </a:lnTo>
                    <a:lnTo>
                      <a:pt x="3623473" y="3418875"/>
                    </a:lnTo>
                    <a:lnTo>
                      <a:pt x="2127779" y="3418875"/>
                    </a:lnTo>
                    <a:lnTo>
                      <a:pt x="2127779" y="1473882"/>
                    </a:lnTo>
                    <a:lnTo>
                      <a:pt x="3401309" y="1473882"/>
                    </a:lnTo>
                    <a:lnTo>
                      <a:pt x="3401309" y="136786"/>
                    </a:lnTo>
                    <a:lnTo>
                      <a:pt x="1970495" y="136786"/>
                    </a:lnTo>
                    <a:lnTo>
                      <a:pt x="1970495" y="442936"/>
                    </a:lnTo>
                    <a:lnTo>
                      <a:pt x="0" y="442936"/>
                    </a:lnTo>
                    <a:close/>
                  </a:path>
                </a:pathLst>
              </a:custGeom>
            </p:spPr>
          </p:pic>
        </p:grpSp>
        <p:pic>
          <p:nvPicPr>
            <p:cNvPr id="5" name="Picture 4">
              <a:extLst>
                <a:ext uri="{FF2B5EF4-FFF2-40B4-BE49-F238E27FC236}">
                  <a16:creationId xmlns:a16="http://schemas.microsoft.com/office/drawing/2014/main" id="{2EBFDE84-E010-BDAB-3560-46E3822307CB}"/>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rot="19020000">
              <a:off x="9187947" y="2697730"/>
              <a:ext cx="3723967" cy="4434256"/>
            </a:xfrm>
            <a:custGeom>
              <a:avLst/>
              <a:gdLst>
                <a:gd name="connsiteX0" fmla="*/ 4469342 w 4469342"/>
                <a:gd name="connsiteY0" fmla="*/ 0 h 5321800"/>
                <a:gd name="connsiteX1" fmla="*/ 4469342 w 4469342"/>
                <a:gd name="connsiteY1" fmla="*/ 5321800 h 5321800"/>
                <a:gd name="connsiteX2" fmla="*/ 1654442 w 4469342"/>
                <a:gd name="connsiteY2" fmla="*/ 5321800 h 5321800"/>
                <a:gd name="connsiteX3" fmla="*/ 0 w 4469342"/>
                <a:gd name="connsiteY3" fmla="*/ 3779008 h 5321800"/>
                <a:gd name="connsiteX4" fmla="*/ 0 w 4469342"/>
                <a:gd name="connsiteY4" fmla="*/ 0 h 532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342" h="5321800">
                  <a:moveTo>
                    <a:pt x="4469342" y="0"/>
                  </a:moveTo>
                  <a:lnTo>
                    <a:pt x="4469342" y="5321800"/>
                  </a:lnTo>
                  <a:lnTo>
                    <a:pt x="1654442" y="5321800"/>
                  </a:lnTo>
                  <a:lnTo>
                    <a:pt x="0" y="3779008"/>
                  </a:lnTo>
                  <a:lnTo>
                    <a:pt x="0" y="0"/>
                  </a:lnTo>
                  <a:close/>
                </a:path>
              </a:pathLst>
            </a:custGeom>
          </p:spPr>
        </p:pic>
      </p:grpSp>
      <p:pic>
        <p:nvPicPr>
          <p:cNvPr id="15" name="Graphic 14" descr="Hourglass 30% outline">
            <a:extLst>
              <a:ext uri="{FF2B5EF4-FFF2-40B4-BE49-F238E27FC236}">
                <a16:creationId xmlns:a16="http://schemas.microsoft.com/office/drawing/2014/main" id="{81E819A3-EBC5-0B8B-DC1A-9E73D1A77F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6359" y="2109519"/>
            <a:ext cx="714867" cy="714867"/>
          </a:xfrm>
          <a:prstGeom prst="rect">
            <a:avLst/>
          </a:prstGeom>
        </p:spPr>
      </p:pic>
      <p:pic>
        <p:nvPicPr>
          <p:cNvPr id="26" name="Graphic 25" descr="Rating outline">
            <a:extLst>
              <a:ext uri="{FF2B5EF4-FFF2-40B4-BE49-F238E27FC236}">
                <a16:creationId xmlns:a16="http://schemas.microsoft.com/office/drawing/2014/main" id="{BC1D19F0-FFFB-139D-CD06-D0C305D6CD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4571" y="5378386"/>
            <a:ext cx="812743" cy="812743"/>
          </a:xfrm>
          <a:prstGeom prst="rect">
            <a:avLst/>
          </a:prstGeom>
        </p:spPr>
      </p:pic>
      <p:sp>
        <p:nvSpPr>
          <p:cNvPr id="7" name="Slide Number Placeholder 1">
            <a:extLst>
              <a:ext uri="{FF2B5EF4-FFF2-40B4-BE49-F238E27FC236}">
                <a16:creationId xmlns:a16="http://schemas.microsoft.com/office/drawing/2014/main" id="{D2D67272-C45B-ABD6-0283-49615FC39513}"/>
              </a:ext>
            </a:extLst>
          </p:cNvPr>
          <p:cNvSpPr txBox="1">
            <a:spLocks/>
          </p:cNvSpPr>
          <p:nvPr/>
        </p:nvSpPr>
        <p:spPr>
          <a:xfrm>
            <a:off x="11738357" y="6540275"/>
            <a:ext cx="326126" cy="21508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976FAB8-503F-1449-B144-4863CF14683B}" type="slidenum">
              <a:rPr lang="en-US" sz="700" smtClean="0"/>
              <a:pPr algn="r"/>
              <a:t>7</a:t>
            </a:fld>
            <a:endParaRPr lang="en-US" sz="700" dirty="0"/>
          </a:p>
        </p:txBody>
      </p:sp>
      <p:sp>
        <p:nvSpPr>
          <p:cNvPr id="24" name="TextBox 23">
            <a:extLst>
              <a:ext uri="{FF2B5EF4-FFF2-40B4-BE49-F238E27FC236}">
                <a16:creationId xmlns:a16="http://schemas.microsoft.com/office/drawing/2014/main" id="{DBAACC4E-1B5A-C697-A1ED-BD627FF257BE}"/>
              </a:ext>
            </a:extLst>
          </p:cNvPr>
          <p:cNvSpPr txBox="1"/>
          <p:nvPr/>
        </p:nvSpPr>
        <p:spPr>
          <a:xfrm>
            <a:off x="211931" y="723811"/>
            <a:ext cx="6653212" cy="1200329"/>
          </a:xfrm>
          <a:prstGeom prst="rect">
            <a:avLst/>
          </a:prstGeom>
          <a:noFill/>
        </p:spPr>
        <p:txBody>
          <a:bodyPr wrap="square">
            <a:spAutoFit/>
          </a:bodyPr>
          <a:lstStyle/>
          <a:p>
            <a:r>
              <a:rPr lang="en-GB" dirty="0">
                <a:latin typeface="IBM Plex Sans" panose="020B0503050203000203" pitchFamily="34" charset="0"/>
              </a:rPr>
              <a:t>Agentic AI driven referral automation can unlock thousands of hours in underwriter capacity, strengthen compliance controls, and deliver multi-million-dollar efficiency gains across the global underwriting workforce.</a:t>
            </a:r>
          </a:p>
        </p:txBody>
      </p:sp>
      <p:pic>
        <p:nvPicPr>
          <p:cNvPr id="27" name="Graphic 26" descr="Dollar outline">
            <a:extLst>
              <a:ext uri="{FF2B5EF4-FFF2-40B4-BE49-F238E27FC236}">
                <a16:creationId xmlns:a16="http://schemas.microsoft.com/office/drawing/2014/main" id="{0A39C19D-44D3-8A11-274C-F7AB882531B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9101" y="3562351"/>
            <a:ext cx="609600" cy="609600"/>
          </a:xfrm>
          <a:prstGeom prst="rect">
            <a:avLst/>
          </a:prstGeom>
        </p:spPr>
      </p:pic>
    </p:spTree>
    <p:extLst>
      <p:ext uri="{BB962C8B-B14F-4D97-AF65-F5344CB8AC3E}">
        <p14:creationId xmlns:p14="http://schemas.microsoft.com/office/powerpoint/2010/main" val="421204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2E190-AF12-B007-B1BA-AE2F74874D1F}"/>
            </a:ext>
          </a:extLst>
        </p:cNvPr>
        <p:cNvGrpSpPr/>
        <p:nvPr/>
      </p:nvGrpSpPr>
      <p:grpSpPr>
        <a:xfrm>
          <a:off x="0" y="0"/>
          <a:ext cx="0" cy="0"/>
          <a:chOff x="0" y="0"/>
          <a:chExt cx="0" cy="0"/>
        </a:xfrm>
      </p:grpSpPr>
      <p:sp>
        <p:nvSpPr>
          <p:cNvPr id="40" name="Rectangle 39" descr="Blue 10 quarter slide background">
            <a:extLst>
              <a:ext uri="{FF2B5EF4-FFF2-40B4-BE49-F238E27FC236}">
                <a16:creationId xmlns:a16="http://schemas.microsoft.com/office/drawing/2014/main" id="{CB602E40-916D-C8DD-F02F-B5C188E599FC}"/>
              </a:ext>
            </a:extLst>
          </p:cNvPr>
          <p:cNvSpPr/>
          <p:nvPr/>
        </p:nvSpPr>
        <p:spPr bwMode="auto">
          <a:xfrm rot="16200000">
            <a:off x="6625541" y="1291540"/>
            <a:ext cx="6858004" cy="4274916"/>
          </a:xfrm>
          <a:prstGeom prst="rect">
            <a:avLst/>
          </a:prstGeom>
          <a:solidFill>
            <a:srgbClr val="CDE3F5">
              <a:alpha val="5037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fontAlgn="base">
              <a:spcBef>
                <a:spcPct val="0"/>
              </a:spcBef>
              <a:spcAft>
                <a:spcPct val="0"/>
              </a:spcAft>
            </a:pPr>
            <a:endParaRPr lang="en-RO" sz="1400">
              <a:solidFill>
                <a:srgbClr val="FFFFFF"/>
              </a:solidFill>
              <a:latin typeface="IBM Plex Sans Light"/>
            </a:endParaRPr>
          </a:p>
        </p:txBody>
      </p:sp>
      <p:sp>
        <p:nvSpPr>
          <p:cNvPr id="4" name="Text Placeholder 3">
            <a:extLst>
              <a:ext uri="{FF2B5EF4-FFF2-40B4-BE49-F238E27FC236}">
                <a16:creationId xmlns:a16="http://schemas.microsoft.com/office/drawing/2014/main" id="{795FB2A6-EC91-B865-0F50-D654402F901F}"/>
              </a:ext>
            </a:extLst>
          </p:cNvPr>
          <p:cNvSpPr txBox="1">
            <a:spLocks/>
          </p:cNvSpPr>
          <p:nvPr/>
        </p:nvSpPr>
        <p:spPr>
          <a:xfrm>
            <a:off x="302854" y="228824"/>
            <a:ext cx="7830718" cy="430887"/>
          </a:xfrm>
          <a:prstGeom prst="rect">
            <a:avLst/>
          </a:prstGeom>
          <a:ln w="12700" cap="flat">
            <a:noFill/>
            <a:miter lim="400000"/>
          </a:ln>
          <a:sp3d/>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wrap="square" lIns="0" tIns="0" rIns="0" bIns="0">
            <a:spAutoFit/>
          </a:bodyPr>
          <a:lstStyle>
            <a:lvl1pPr marL="0" marR="0" indent="0" algn="l" defTabSz="825500" latinLnBrk="0">
              <a:lnSpc>
                <a:spcPct val="90000"/>
              </a:lnSpc>
              <a:spcBef>
                <a:spcPts val="0"/>
              </a:spcBef>
              <a:spcAft>
                <a:spcPts val="0"/>
              </a:spcAft>
              <a:buClrTx/>
              <a:buSzTx/>
              <a:buFontTx/>
              <a:buNone/>
              <a:tabLst/>
              <a:defRPr sz="17500" b="1" i="0" u="none" strike="noStrike" cap="none" spc="0" baseline="0">
                <a:solidFill>
                  <a:srgbClr val="FFFFFF"/>
                </a:solidFill>
                <a:uFillTx/>
                <a:latin typeface="Arial"/>
                <a:ea typeface="Arial"/>
                <a:cs typeface="Arial"/>
                <a:sym typeface="Arial"/>
              </a:defRPr>
            </a:lvl1pPr>
            <a:lvl2pPr marL="1413827" marR="57150" indent="-571500" algn="l" defTabSz="1308100" latinLnBrk="0">
              <a:lnSpc>
                <a:spcPct val="100000"/>
              </a:lnSpc>
              <a:spcBef>
                <a:spcPts val="3400"/>
              </a:spcBef>
              <a:spcAft>
                <a:spcPts val="0"/>
              </a:spcAft>
              <a:buClr>
                <a:srgbClr val="424242"/>
              </a:buClr>
              <a:buSzPct val="127000"/>
              <a:buFont typeface="Gill Sans"/>
              <a:buChar char="•"/>
              <a:tabLst/>
              <a:defRPr sz="4600" b="0" i="0" u="none" strike="noStrike" cap="none" spc="0" baseline="0">
                <a:solidFill>
                  <a:srgbClr val="424242"/>
                </a:solidFill>
                <a:uFill>
                  <a:solidFill>
                    <a:srgbClr val="424242"/>
                  </a:solidFill>
                </a:uFill>
                <a:latin typeface="Helvetica Neue"/>
                <a:ea typeface="Helvetica Neue"/>
                <a:cs typeface="Helvetica Neue"/>
                <a:sym typeface="Helvetica Neue"/>
              </a:defRPr>
            </a:lvl2pPr>
            <a:lvl3pPr marL="18583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3pPr>
            <a:lvl4pPr marL="2302827" marR="57150" indent="-571500" algn="l" defTabSz="1308100" latinLnBrk="0">
              <a:lnSpc>
                <a:spcPct val="100000"/>
              </a:lnSpc>
              <a:spcBef>
                <a:spcPts val="3400"/>
              </a:spcBef>
              <a:spcAft>
                <a:spcPts val="0"/>
              </a:spcAft>
              <a:buClr>
                <a:srgbClr val="424242"/>
              </a:buClr>
              <a:buSzPct val="127000"/>
              <a:buFont typeface="Gill Sans"/>
              <a:buChar char="•"/>
              <a:tabLst/>
              <a:defRPr sz="4200" b="0" i="0" u="none" strike="noStrike" cap="none" spc="0" baseline="0">
                <a:solidFill>
                  <a:srgbClr val="424242"/>
                </a:solidFill>
                <a:uFill>
                  <a:solidFill>
                    <a:srgbClr val="424242"/>
                  </a:solidFill>
                </a:uFill>
                <a:latin typeface="Helvetica Neue"/>
                <a:ea typeface="Helvetica Neue"/>
                <a:cs typeface="Helvetica Neue"/>
                <a:sym typeface="Helvetica Neue"/>
              </a:defRPr>
            </a:lvl4pPr>
            <a:lvl5pPr marL="2747327" marR="57150" indent="-571500" algn="l" defTabSz="1308100" latinLnBrk="0">
              <a:lnSpc>
                <a:spcPct val="100000"/>
              </a:lnSpc>
              <a:spcBef>
                <a:spcPts val="3400"/>
              </a:spcBef>
              <a:spcAft>
                <a:spcPts val="0"/>
              </a:spcAft>
              <a:buClr>
                <a:srgbClr val="424242"/>
              </a:buClr>
              <a:buSzPct val="127000"/>
              <a:buFont typeface="Gill Sans"/>
              <a:buChar char="•"/>
              <a:tabLst/>
              <a:defRPr sz="3800" b="0" i="0" u="none" strike="noStrike" cap="none" spc="0" baseline="0">
                <a:solidFill>
                  <a:srgbClr val="424242"/>
                </a:solidFill>
                <a:uFill>
                  <a:solidFill>
                    <a:srgbClr val="424242"/>
                  </a:solidFill>
                </a:uFill>
                <a:latin typeface="Helvetica Neue"/>
                <a:ea typeface="Helvetica Neue"/>
                <a:cs typeface="Helvetica Neue"/>
                <a:sym typeface="Helvetica Neue"/>
              </a:defRPr>
            </a:lvl5pPr>
            <a:lvl6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6pPr>
            <a:lvl7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7pPr>
            <a:lvl8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8pPr>
            <a:lvl9pPr marL="2927801" marR="57150" indent="-751973" algn="l" defTabSz="1308100" latinLnBrk="0">
              <a:lnSpc>
                <a:spcPct val="100000"/>
              </a:lnSpc>
              <a:spcBef>
                <a:spcPts val="3400"/>
              </a:spcBef>
              <a:spcAft>
                <a:spcPts val="0"/>
              </a:spcAft>
              <a:buClr>
                <a:srgbClr val="424242"/>
              </a:buClr>
              <a:buSzPct val="127000"/>
              <a:buFont typeface="Gill Sans"/>
              <a:buChar char="•"/>
              <a:tabLst/>
              <a:defRPr sz="5000" b="0" i="0" u="none" strike="noStrike" cap="none" spc="0" baseline="0">
                <a:solidFill>
                  <a:srgbClr val="424242"/>
                </a:solidFill>
                <a:uFill>
                  <a:solidFill>
                    <a:srgbClr val="424242"/>
                  </a:solidFill>
                </a:uFill>
                <a:latin typeface="Helvetica Neue"/>
                <a:ea typeface="Helvetica Neue"/>
                <a:cs typeface="Helvetica Neue"/>
                <a:sym typeface="Helvetica Neue"/>
              </a:defRPr>
            </a:lvl9pPr>
          </a:lstStyle>
          <a:p>
            <a:pPr defTabSz="2438156">
              <a:lnSpc>
                <a:spcPct val="100000"/>
              </a:lnSpc>
            </a:pPr>
            <a:r>
              <a:rPr lang="en-US" sz="2800" b="0" kern="0" dirty="0">
                <a:solidFill>
                  <a:srgbClr val="0F62FE"/>
                </a:solidFill>
                <a:latin typeface="IBM Plex Sans Light"/>
                <a:sym typeface="IBM Plex Sans Light"/>
              </a:rPr>
              <a:t>Benefit Calculation</a:t>
            </a:r>
            <a:endParaRPr lang="en-US" sz="2800" b="0" kern="0" dirty="0">
              <a:solidFill>
                <a:schemeClr val="tx1"/>
              </a:solidFill>
              <a:latin typeface="IBM Plex Sans Light"/>
            </a:endParaRPr>
          </a:p>
        </p:txBody>
      </p:sp>
      <p:grpSp>
        <p:nvGrpSpPr>
          <p:cNvPr id="2" name="Group 1">
            <a:extLst>
              <a:ext uri="{FF2B5EF4-FFF2-40B4-BE49-F238E27FC236}">
                <a16:creationId xmlns:a16="http://schemas.microsoft.com/office/drawing/2014/main" id="{95B8A266-B2EF-CAA1-0930-6D14E68E9B24}"/>
              </a:ext>
            </a:extLst>
          </p:cNvPr>
          <p:cNvGrpSpPr/>
          <p:nvPr/>
        </p:nvGrpSpPr>
        <p:grpSpPr>
          <a:xfrm>
            <a:off x="7766612" y="1246018"/>
            <a:ext cx="4794355" cy="4878242"/>
            <a:chOff x="5924924" y="332828"/>
            <a:chExt cx="6986990" cy="6799158"/>
          </a:xfrm>
        </p:grpSpPr>
        <p:grpSp>
          <p:nvGrpSpPr>
            <p:cNvPr id="3" name="Group 2">
              <a:extLst>
                <a:ext uri="{FF2B5EF4-FFF2-40B4-BE49-F238E27FC236}">
                  <a16:creationId xmlns:a16="http://schemas.microsoft.com/office/drawing/2014/main" id="{39D54FC3-FBEF-0CBF-9AEA-E271EDBA0D56}"/>
                </a:ext>
              </a:extLst>
            </p:cNvPr>
            <p:cNvGrpSpPr>
              <a:grpSpLocks noChangeAspect="1"/>
            </p:cNvGrpSpPr>
            <p:nvPr/>
          </p:nvGrpSpPr>
          <p:grpSpPr>
            <a:xfrm>
              <a:off x="5924924" y="332828"/>
              <a:ext cx="5313907" cy="5127907"/>
              <a:chOff x="6681967" y="-107682"/>
              <a:chExt cx="6857546" cy="6617516"/>
            </a:xfrm>
          </p:grpSpPr>
          <p:grpSp>
            <p:nvGrpSpPr>
              <p:cNvPr id="6" name="Group 5">
                <a:extLst>
                  <a:ext uri="{FF2B5EF4-FFF2-40B4-BE49-F238E27FC236}">
                    <a16:creationId xmlns:a16="http://schemas.microsoft.com/office/drawing/2014/main" id="{688AD99A-61E2-11B2-B7BE-B956F89501B9}"/>
                  </a:ext>
                </a:extLst>
              </p:cNvPr>
              <p:cNvGrpSpPr>
                <a:grpSpLocks noChangeAspect="1"/>
              </p:cNvGrpSpPr>
              <p:nvPr/>
            </p:nvGrpSpPr>
            <p:grpSpPr>
              <a:xfrm>
                <a:off x="6681967" y="-107682"/>
                <a:ext cx="6685440" cy="6617516"/>
                <a:chOff x="6681967" y="-107682"/>
                <a:chExt cx="6685440" cy="6617516"/>
              </a:xfrm>
            </p:grpSpPr>
            <p:pic>
              <p:nvPicPr>
                <p:cNvPr id="9" name="Graphic 8">
                  <a:extLst>
                    <a:ext uri="{FF2B5EF4-FFF2-40B4-BE49-F238E27FC236}">
                      <a16:creationId xmlns:a16="http://schemas.microsoft.com/office/drawing/2014/main" id="{A820BEF5-0232-D95A-B9DC-0269A5B9AC54}"/>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681967" y="-107682"/>
                  <a:ext cx="6576143" cy="6576137"/>
                </a:xfrm>
                <a:custGeom>
                  <a:avLst/>
                  <a:gdLst>
                    <a:gd name="connsiteX0" fmla="*/ 0 w 6576143"/>
                    <a:gd name="connsiteY0" fmla="*/ 0 h 6576137"/>
                    <a:gd name="connsiteX1" fmla="*/ 3548655 w 6576143"/>
                    <a:gd name="connsiteY1" fmla="*/ 0 h 6576137"/>
                    <a:gd name="connsiteX2" fmla="*/ 3548655 w 6576143"/>
                    <a:gd name="connsiteY2" fmla="*/ 1269368 h 6576137"/>
                    <a:gd name="connsiteX3" fmla="*/ 3528672 w 6576143"/>
                    <a:gd name="connsiteY3" fmla="*/ 1273331 h 6576137"/>
                    <a:gd name="connsiteX4" fmla="*/ 3401309 w 6576143"/>
                    <a:gd name="connsiteY4" fmla="*/ 1315889 h 6576137"/>
                    <a:gd name="connsiteX5" fmla="*/ 3401309 w 6576143"/>
                    <a:gd name="connsiteY5" fmla="*/ 136786 h 6576137"/>
                    <a:gd name="connsiteX6" fmla="*/ 1970495 w 6576143"/>
                    <a:gd name="connsiteY6" fmla="*/ 136786 h 6576137"/>
                    <a:gd name="connsiteX7" fmla="*/ 1970495 w 6576143"/>
                    <a:gd name="connsiteY7" fmla="*/ 1473883 h 6576137"/>
                    <a:gd name="connsiteX8" fmla="*/ 3086236 w 6576143"/>
                    <a:gd name="connsiteY8" fmla="*/ 1473883 h 6576137"/>
                    <a:gd name="connsiteX9" fmla="*/ 3025525 w 6576143"/>
                    <a:gd name="connsiteY9" fmla="*/ 1511890 h 6576137"/>
                    <a:gd name="connsiteX10" fmla="*/ 2077881 w 6576143"/>
                    <a:gd name="connsiteY10" fmla="*/ 3358653 h 6576137"/>
                    <a:gd name="connsiteX11" fmla="*/ 2075541 w 6576143"/>
                    <a:gd name="connsiteY11" fmla="*/ 3418875 h 6576137"/>
                    <a:gd name="connsiteX12" fmla="*/ 1627371 w 6576143"/>
                    <a:gd name="connsiteY12" fmla="*/ 3418875 h 6576137"/>
                    <a:gd name="connsiteX13" fmla="*/ 1627371 w 6576143"/>
                    <a:gd name="connsiteY13" fmla="*/ 4940747 h 6576137"/>
                    <a:gd name="connsiteX14" fmla="*/ 3548655 w 6576143"/>
                    <a:gd name="connsiteY14" fmla="*/ 4940747 h 6576137"/>
                    <a:gd name="connsiteX15" fmla="*/ 3548655 w 6576143"/>
                    <a:gd name="connsiteY15" fmla="*/ 6480949 h 6576137"/>
                    <a:gd name="connsiteX16" fmla="*/ 6576143 w 6576143"/>
                    <a:gd name="connsiteY16" fmla="*/ 6480949 h 6576137"/>
                    <a:gd name="connsiteX17" fmla="*/ 6576143 w 6576143"/>
                    <a:gd name="connsiteY17" fmla="*/ 6576137 h 6576137"/>
                    <a:gd name="connsiteX18" fmla="*/ 0 w 6576143"/>
                    <a:gd name="connsiteY18" fmla="*/ 6576137 h 657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576143" h="6576137">
                      <a:moveTo>
                        <a:pt x="0" y="0"/>
                      </a:moveTo>
                      <a:lnTo>
                        <a:pt x="3548655" y="0"/>
                      </a:lnTo>
                      <a:lnTo>
                        <a:pt x="3548655" y="1269368"/>
                      </a:lnTo>
                      <a:lnTo>
                        <a:pt x="3528672" y="1273331"/>
                      </a:lnTo>
                      <a:lnTo>
                        <a:pt x="3401309" y="1315889"/>
                      </a:lnTo>
                      <a:lnTo>
                        <a:pt x="3401309" y="136786"/>
                      </a:lnTo>
                      <a:lnTo>
                        <a:pt x="1970495" y="136786"/>
                      </a:lnTo>
                      <a:lnTo>
                        <a:pt x="1970495" y="1473883"/>
                      </a:lnTo>
                      <a:lnTo>
                        <a:pt x="3086236" y="1473883"/>
                      </a:lnTo>
                      <a:lnTo>
                        <a:pt x="3025525" y="1511890"/>
                      </a:lnTo>
                      <a:cubicBezTo>
                        <a:pt x="2507267" y="1877755"/>
                        <a:pt x="2140316" y="2559710"/>
                        <a:pt x="2077881" y="3358653"/>
                      </a:cubicBezTo>
                      <a:lnTo>
                        <a:pt x="2075541" y="3418875"/>
                      </a:lnTo>
                      <a:lnTo>
                        <a:pt x="1627371" y="3418875"/>
                      </a:lnTo>
                      <a:lnTo>
                        <a:pt x="1627371" y="4940747"/>
                      </a:lnTo>
                      <a:lnTo>
                        <a:pt x="3548655" y="4940747"/>
                      </a:lnTo>
                      <a:lnTo>
                        <a:pt x="3548655" y="6480949"/>
                      </a:lnTo>
                      <a:lnTo>
                        <a:pt x="6576143" y="6480949"/>
                      </a:lnTo>
                      <a:lnTo>
                        <a:pt x="6576143" y="6576137"/>
                      </a:lnTo>
                      <a:lnTo>
                        <a:pt x="0" y="6576137"/>
                      </a:lnTo>
                      <a:close/>
                    </a:path>
                  </a:pathLst>
                </a:custGeom>
              </p:spPr>
            </p:pic>
            <p:sp>
              <p:nvSpPr>
                <p:cNvPr id="10" name="Freeform 54">
                  <a:extLst>
                    <a:ext uri="{FF2B5EF4-FFF2-40B4-BE49-F238E27FC236}">
                      <a16:creationId xmlns:a16="http://schemas.microsoft.com/office/drawing/2014/main" id="{14C44E1E-6CBA-0C99-D532-992A13DA9434}"/>
                    </a:ext>
                  </a:extLst>
                </p:cNvPr>
                <p:cNvSpPr/>
                <p:nvPr/>
              </p:nvSpPr>
              <p:spPr bwMode="auto">
                <a:xfrm>
                  <a:off x="8756804" y="3312811"/>
                  <a:ext cx="1753638" cy="876818"/>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1" name="Freeform 55">
                  <a:extLst>
                    <a:ext uri="{FF2B5EF4-FFF2-40B4-BE49-F238E27FC236}">
                      <a16:creationId xmlns:a16="http://schemas.microsoft.com/office/drawing/2014/main" id="{90E211AD-009C-5939-04AA-52FA099380EA}"/>
                    </a:ext>
                  </a:extLst>
                </p:cNvPr>
                <p:cNvSpPr/>
                <p:nvPr/>
              </p:nvSpPr>
              <p:spPr bwMode="auto">
                <a:xfrm flipV="1">
                  <a:off x="8761962" y="4189628"/>
                  <a:ext cx="1753638" cy="876818"/>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A56EFF">
                    <a:alpha val="49909"/>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2" name="Freeform 57">
                  <a:extLst>
                    <a:ext uri="{FF2B5EF4-FFF2-40B4-BE49-F238E27FC236}">
                      <a16:creationId xmlns:a16="http://schemas.microsoft.com/office/drawing/2014/main" id="{62A32539-88D2-4952-436F-F7A808A3C726}"/>
                    </a:ext>
                  </a:extLst>
                </p:cNvPr>
                <p:cNvSpPr>
                  <a:spLocks noChangeAspect="1"/>
                </p:cNvSpPr>
                <p:nvPr/>
              </p:nvSpPr>
              <p:spPr bwMode="auto">
                <a:xfrm>
                  <a:off x="8769398" y="3321579"/>
                  <a:ext cx="876819" cy="876818"/>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3" name="Oval 12">
                  <a:extLst>
                    <a:ext uri="{FF2B5EF4-FFF2-40B4-BE49-F238E27FC236}">
                      <a16:creationId xmlns:a16="http://schemas.microsoft.com/office/drawing/2014/main" id="{EBD5BD51-B0FA-F389-9ABF-B8AA004FBBE8}"/>
                    </a:ext>
                  </a:extLst>
                </p:cNvPr>
                <p:cNvSpPr>
                  <a:spLocks noChangeAspect="1"/>
                </p:cNvSpPr>
                <p:nvPr/>
              </p:nvSpPr>
              <p:spPr bwMode="auto">
                <a:xfrm rot="2700000">
                  <a:off x="9284519" y="3851894"/>
                  <a:ext cx="657614" cy="657614"/>
                </a:xfrm>
                <a:prstGeom prst="ellipse">
                  <a:avLst/>
                </a:prstGeom>
                <a:solidFill>
                  <a:srgbClr val="A56EFF">
                    <a:alpha val="4995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grpSp>
              <p:nvGrpSpPr>
                <p:cNvPr id="14" name="Group 13">
                  <a:extLst>
                    <a:ext uri="{FF2B5EF4-FFF2-40B4-BE49-F238E27FC236}">
                      <a16:creationId xmlns:a16="http://schemas.microsoft.com/office/drawing/2014/main" id="{093DC064-3975-29B3-0D6D-5758486C230B}"/>
                    </a:ext>
                  </a:extLst>
                </p:cNvPr>
                <p:cNvGrpSpPr/>
                <p:nvPr/>
              </p:nvGrpSpPr>
              <p:grpSpPr>
                <a:xfrm flipH="1">
                  <a:off x="9963401" y="4440567"/>
                  <a:ext cx="1753638" cy="2069267"/>
                  <a:chOff x="13331406" y="1996961"/>
                  <a:chExt cx="1828800" cy="2157959"/>
                </a:xfrm>
              </p:grpSpPr>
              <p:sp>
                <p:nvSpPr>
                  <p:cNvPr id="21" name="Freeform 61">
                    <a:extLst>
                      <a:ext uri="{FF2B5EF4-FFF2-40B4-BE49-F238E27FC236}">
                        <a16:creationId xmlns:a16="http://schemas.microsoft.com/office/drawing/2014/main" id="{8B1B9243-E258-A3EE-8EC8-CCAE8C599F6D}"/>
                      </a:ext>
                    </a:extLst>
                  </p:cNvPr>
                  <p:cNvSpPr/>
                  <p:nvPr/>
                </p:nvSpPr>
                <p:spPr bwMode="auto">
                  <a:xfrm flipV="1">
                    <a:off x="13331406" y="3240520"/>
                    <a:ext cx="1828800" cy="914400"/>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chemeClr val="accent1">
                      <a:alpha val="6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2" name="Freeform 63">
                    <a:extLst>
                      <a:ext uri="{FF2B5EF4-FFF2-40B4-BE49-F238E27FC236}">
                        <a16:creationId xmlns:a16="http://schemas.microsoft.com/office/drawing/2014/main" id="{7FDF2D05-52BA-54F5-8E2D-7A201FCB77C7}"/>
                      </a:ext>
                    </a:extLst>
                  </p:cNvPr>
                  <p:cNvSpPr/>
                  <p:nvPr/>
                </p:nvSpPr>
                <p:spPr bwMode="auto">
                  <a:xfrm rot="2700000">
                    <a:off x="13669984" y="2454161"/>
                    <a:ext cx="1828800" cy="914400"/>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3" name="Oval 22">
                    <a:extLst>
                      <a:ext uri="{FF2B5EF4-FFF2-40B4-BE49-F238E27FC236}">
                        <a16:creationId xmlns:a16="http://schemas.microsoft.com/office/drawing/2014/main" id="{17238CD8-F883-B8B0-91BF-1B769CF387C8}"/>
                      </a:ext>
                    </a:extLst>
                  </p:cNvPr>
                  <p:cNvSpPr>
                    <a:spLocks noChangeAspect="1"/>
                  </p:cNvSpPr>
                  <p:nvPr/>
                </p:nvSpPr>
                <p:spPr bwMode="auto">
                  <a:xfrm rot="2700000">
                    <a:off x="13908940" y="2888962"/>
                    <a:ext cx="685800" cy="685800"/>
                  </a:xfrm>
                  <a:prstGeom prst="ellipse">
                    <a:avLst/>
                  </a:prstGeom>
                  <a:solidFill>
                    <a:srgbClr val="A56EFF">
                      <a:alpha val="49955"/>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grpSp>
            <p:sp>
              <p:nvSpPr>
                <p:cNvPr id="16" name="Cross 15">
                  <a:extLst>
                    <a:ext uri="{FF2B5EF4-FFF2-40B4-BE49-F238E27FC236}">
                      <a16:creationId xmlns:a16="http://schemas.microsoft.com/office/drawing/2014/main" id="{172408D6-1FB7-9CBF-51FF-EB745B1CC431}"/>
                    </a:ext>
                  </a:extLst>
                </p:cNvPr>
                <p:cNvSpPr>
                  <a:spLocks noChangeAspect="1"/>
                </p:cNvSpPr>
                <p:nvPr/>
              </p:nvSpPr>
              <p:spPr bwMode="auto">
                <a:xfrm rot="2700000">
                  <a:off x="10172597" y="2106675"/>
                  <a:ext cx="1315227" cy="1315229"/>
                </a:xfrm>
                <a:prstGeom prst="plus">
                  <a:avLst>
                    <a:gd name="adj" fmla="val 33333"/>
                  </a:avLst>
                </a:prstGeom>
                <a:solidFill>
                  <a:schemeClr val="accent1">
                    <a:alpha val="4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7" name="Cross 16">
                  <a:extLst>
                    <a:ext uri="{FF2B5EF4-FFF2-40B4-BE49-F238E27FC236}">
                      <a16:creationId xmlns:a16="http://schemas.microsoft.com/office/drawing/2014/main" id="{8BDE32C4-F5C8-9EA3-BC2D-09E14823324F}"/>
                    </a:ext>
                  </a:extLst>
                </p:cNvPr>
                <p:cNvSpPr>
                  <a:spLocks noChangeAspect="1"/>
                </p:cNvSpPr>
                <p:nvPr/>
              </p:nvSpPr>
              <p:spPr bwMode="auto">
                <a:xfrm rot="2700000">
                  <a:off x="8744950" y="48462"/>
                  <a:ext cx="1315227" cy="1315229"/>
                </a:xfrm>
                <a:prstGeom prst="plus">
                  <a:avLst>
                    <a:gd name="adj" fmla="val 33333"/>
                  </a:avLst>
                </a:prstGeom>
                <a:solidFill>
                  <a:srgbClr val="33B1FF">
                    <a:alpha val="8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18" name="Cross 17">
                  <a:extLst>
                    <a:ext uri="{FF2B5EF4-FFF2-40B4-BE49-F238E27FC236}">
                      <a16:creationId xmlns:a16="http://schemas.microsoft.com/office/drawing/2014/main" id="{2DF77D9A-01B4-47A7-A706-D6915ACAD081}"/>
                    </a:ext>
                  </a:extLst>
                </p:cNvPr>
                <p:cNvSpPr>
                  <a:spLocks noChangeAspect="1"/>
                </p:cNvSpPr>
                <p:nvPr/>
              </p:nvSpPr>
              <p:spPr bwMode="auto">
                <a:xfrm rot="2700000">
                  <a:off x="12052179" y="1492450"/>
                  <a:ext cx="1315227" cy="1315229"/>
                </a:xfrm>
                <a:prstGeom prst="plus">
                  <a:avLst>
                    <a:gd name="adj" fmla="val 33333"/>
                  </a:avLst>
                </a:pr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0" name="Cross 19">
                  <a:extLst>
                    <a:ext uri="{FF2B5EF4-FFF2-40B4-BE49-F238E27FC236}">
                      <a16:creationId xmlns:a16="http://schemas.microsoft.com/office/drawing/2014/main" id="{C62A483B-5C84-02B8-2A20-4F3C8F66CFBB}"/>
                    </a:ext>
                  </a:extLst>
                </p:cNvPr>
                <p:cNvSpPr>
                  <a:spLocks noChangeAspect="1"/>
                </p:cNvSpPr>
                <p:nvPr/>
              </p:nvSpPr>
              <p:spPr bwMode="auto">
                <a:xfrm rot="2700000">
                  <a:off x="7892394" y="2122805"/>
                  <a:ext cx="1315227" cy="1315229"/>
                </a:xfrm>
                <a:prstGeom prst="plus">
                  <a:avLst>
                    <a:gd name="adj" fmla="val 33333"/>
                  </a:avLst>
                </a:prstGeom>
                <a:solidFill>
                  <a:schemeClr val="accent1">
                    <a:alpha val="4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marL="0" marR="0" lvl="0" indent="0" algn="l" defTabSz="761863" rtl="0" eaLnBrk="1" fontAlgn="base" latinLnBrk="0" hangingPunct="1">
                    <a:lnSpc>
                      <a:spcPct val="100000"/>
                    </a:lnSpc>
                    <a:spcBef>
                      <a:spcPct val="0"/>
                    </a:spcBef>
                    <a:spcAft>
                      <a:spcPct val="0"/>
                    </a:spcAft>
                    <a:buClrTx/>
                    <a:buSzTx/>
                    <a:buFontTx/>
                    <a:buNone/>
                    <a:tabLst/>
                    <a:defRPr/>
                  </a:pPr>
                  <a:endParaRPr kumimoji="0" lang="en-US" sz="1166" b="0" i="0" u="none" strike="noStrike" kern="1200" cap="none" spc="0" normalizeH="0" baseline="0" noProof="0" dirty="0">
                    <a:ln>
                      <a:noFill/>
                    </a:ln>
                    <a:solidFill>
                      <a:srgbClr val="FFFFFF"/>
                    </a:solidFill>
                    <a:effectLst/>
                    <a:uLnTx/>
                    <a:uFillTx/>
                    <a:latin typeface="IBM Plex Sans Light"/>
                    <a:ea typeface="+mn-ea"/>
                    <a:cs typeface="+mn-cs"/>
                  </a:endParaRPr>
                </a:p>
              </p:txBody>
            </p:sp>
          </p:grpSp>
          <p:pic>
            <p:nvPicPr>
              <p:cNvPr id="8" name="Graphic 7">
                <a:extLst>
                  <a:ext uri="{FF2B5EF4-FFF2-40B4-BE49-F238E27FC236}">
                    <a16:creationId xmlns:a16="http://schemas.microsoft.com/office/drawing/2014/main" id="{F72C401E-0AB4-8057-D85B-7C1E394EEFEB}"/>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963370" y="-86993"/>
                <a:ext cx="6576143" cy="6576137"/>
              </a:xfrm>
              <a:custGeom>
                <a:avLst/>
                <a:gdLst>
                  <a:gd name="connsiteX0" fmla="*/ 0 w 6576143"/>
                  <a:gd name="connsiteY0" fmla="*/ 6387241 h 6576137"/>
                  <a:gd name="connsiteX1" fmla="*/ 1372939 w 6576143"/>
                  <a:gd name="connsiteY1" fmla="*/ 6387241 h 6576137"/>
                  <a:gd name="connsiteX2" fmla="*/ 1372939 w 6576143"/>
                  <a:gd name="connsiteY2" fmla="*/ 6576137 h 6576137"/>
                  <a:gd name="connsiteX3" fmla="*/ 0 w 6576143"/>
                  <a:gd name="connsiteY3" fmla="*/ 6576137 h 6576137"/>
                  <a:gd name="connsiteX4" fmla="*/ 4742748 w 6576143"/>
                  <a:gd name="connsiteY4" fmla="*/ 6228825 h 6576137"/>
                  <a:gd name="connsiteX5" fmla="*/ 6576143 w 6576143"/>
                  <a:gd name="connsiteY5" fmla="*/ 6228825 h 6576137"/>
                  <a:gd name="connsiteX6" fmla="*/ 6576143 w 6576143"/>
                  <a:gd name="connsiteY6" fmla="*/ 6576137 h 6576137"/>
                  <a:gd name="connsiteX7" fmla="*/ 4742748 w 6576143"/>
                  <a:gd name="connsiteY7" fmla="*/ 6576137 h 6576137"/>
                  <a:gd name="connsiteX8" fmla="*/ 0 w 6576143"/>
                  <a:gd name="connsiteY8" fmla="*/ 0 h 6576137"/>
                  <a:gd name="connsiteX9" fmla="*/ 6576143 w 6576143"/>
                  <a:gd name="connsiteY9" fmla="*/ 0 h 6576137"/>
                  <a:gd name="connsiteX10" fmla="*/ 6576143 w 6576143"/>
                  <a:gd name="connsiteY10" fmla="*/ 2488670 h 6576137"/>
                  <a:gd name="connsiteX11" fmla="*/ 6094425 w 6576143"/>
                  <a:gd name="connsiteY11" fmla="*/ 2488670 h 6576137"/>
                  <a:gd name="connsiteX12" fmla="*/ 5870810 w 6576143"/>
                  <a:gd name="connsiteY12" fmla="*/ 2265055 h 6576137"/>
                  <a:gd name="connsiteX13" fmla="*/ 6180809 w 6576143"/>
                  <a:gd name="connsiteY13" fmla="*/ 1955056 h 6576137"/>
                  <a:gd name="connsiteX14" fmla="*/ 5870801 w 6576143"/>
                  <a:gd name="connsiteY14" fmla="*/ 1645048 h 6576137"/>
                  <a:gd name="connsiteX15" fmla="*/ 5560801 w 6576143"/>
                  <a:gd name="connsiteY15" fmla="*/ 1955047 h 6576137"/>
                  <a:gd name="connsiteX16" fmla="*/ 5250802 w 6576143"/>
                  <a:gd name="connsiteY16" fmla="*/ 1645048 h 6576137"/>
                  <a:gd name="connsiteX17" fmla="*/ 4940793 w 6576143"/>
                  <a:gd name="connsiteY17" fmla="*/ 1955056 h 6576137"/>
                  <a:gd name="connsiteX18" fmla="*/ 5250792 w 6576143"/>
                  <a:gd name="connsiteY18" fmla="*/ 2265055 h 6576137"/>
                  <a:gd name="connsiteX19" fmla="*/ 5027177 w 6576143"/>
                  <a:gd name="connsiteY19" fmla="*/ 2488670 h 6576137"/>
                  <a:gd name="connsiteX20" fmla="*/ 4683873 w 6576143"/>
                  <a:gd name="connsiteY20" fmla="*/ 2488670 h 6576137"/>
                  <a:gd name="connsiteX21" fmla="*/ 4454476 w 6576143"/>
                  <a:gd name="connsiteY21" fmla="*/ 2259273 h 6576137"/>
                  <a:gd name="connsiteX22" fmla="*/ 4225079 w 6576143"/>
                  <a:gd name="connsiteY22" fmla="*/ 2488670 h 6576137"/>
                  <a:gd name="connsiteX23" fmla="*/ 4063875 w 6576143"/>
                  <a:gd name="connsiteY23" fmla="*/ 2488670 h 6576137"/>
                  <a:gd name="connsiteX24" fmla="*/ 3834477 w 6576143"/>
                  <a:gd name="connsiteY24" fmla="*/ 2259273 h 6576137"/>
                  <a:gd name="connsiteX25" fmla="*/ 3524469 w 6576143"/>
                  <a:gd name="connsiteY25" fmla="*/ 2569282 h 6576137"/>
                  <a:gd name="connsiteX26" fmla="*/ 3623473 w 6576143"/>
                  <a:gd name="connsiteY26" fmla="*/ 2668286 h 6576137"/>
                  <a:gd name="connsiteX27" fmla="*/ 3623473 w 6576143"/>
                  <a:gd name="connsiteY27" fmla="*/ 3090276 h 6576137"/>
                  <a:gd name="connsiteX28" fmla="*/ 3524469 w 6576143"/>
                  <a:gd name="connsiteY28" fmla="*/ 3189280 h 6576137"/>
                  <a:gd name="connsiteX29" fmla="*/ 3623473 w 6576143"/>
                  <a:gd name="connsiteY29" fmla="*/ 3288284 h 6576137"/>
                  <a:gd name="connsiteX30" fmla="*/ 3623473 w 6576143"/>
                  <a:gd name="connsiteY30" fmla="*/ 3418875 h 6576137"/>
                  <a:gd name="connsiteX31" fmla="*/ 2127779 w 6576143"/>
                  <a:gd name="connsiteY31" fmla="*/ 3418875 h 6576137"/>
                  <a:gd name="connsiteX32" fmla="*/ 2127779 w 6576143"/>
                  <a:gd name="connsiteY32" fmla="*/ 1473882 h 6576137"/>
                  <a:gd name="connsiteX33" fmla="*/ 3401309 w 6576143"/>
                  <a:gd name="connsiteY33" fmla="*/ 1473882 h 6576137"/>
                  <a:gd name="connsiteX34" fmla="*/ 3401309 w 6576143"/>
                  <a:gd name="connsiteY34" fmla="*/ 136786 h 6576137"/>
                  <a:gd name="connsiteX35" fmla="*/ 1970495 w 6576143"/>
                  <a:gd name="connsiteY35" fmla="*/ 136786 h 6576137"/>
                  <a:gd name="connsiteX36" fmla="*/ 1970495 w 6576143"/>
                  <a:gd name="connsiteY36" fmla="*/ 442936 h 6576137"/>
                  <a:gd name="connsiteX37" fmla="*/ 0 w 6576143"/>
                  <a:gd name="connsiteY37" fmla="*/ 442936 h 657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576143" h="6576137">
                    <a:moveTo>
                      <a:pt x="0" y="6387241"/>
                    </a:moveTo>
                    <a:lnTo>
                      <a:pt x="1372939" y="6387241"/>
                    </a:lnTo>
                    <a:lnTo>
                      <a:pt x="1372939" y="6576137"/>
                    </a:lnTo>
                    <a:lnTo>
                      <a:pt x="0" y="6576137"/>
                    </a:lnTo>
                    <a:close/>
                    <a:moveTo>
                      <a:pt x="4742748" y="6228825"/>
                    </a:moveTo>
                    <a:lnTo>
                      <a:pt x="6576143" y="6228825"/>
                    </a:lnTo>
                    <a:lnTo>
                      <a:pt x="6576143" y="6576137"/>
                    </a:lnTo>
                    <a:lnTo>
                      <a:pt x="4742748" y="6576137"/>
                    </a:lnTo>
                    <a:close/>
                    <a:moveTo>
                      <a:pt x="0" y="0"/>
                    </a:moveTo>
                    <a:lnTo>
                      <a:pt x="6576143" y="0"/>
                    </a:lnTo>
                    <a:lnTo>
                      <a:pt x="6576143" y="2488670"/>
                    </a:lnTo>
                    <a:lnTo>
                      <a:pt x="6094425" y="2488670"/>
                    </a:lnTo>
                    <a:lnTo>
                      <a:pt x="5870810" y="2265055"/>
                    </a:lnTo>
                    <a:lnTo>
                      <a:pt x="6180809" y="1955056"/>
                    </a:lnTo>
                    <a:lnTo>
                      <a:pt x="5870801" y="1645048"/>
                    </a:lnTo>
                    <a:lnTo>
                      <a:pt x="5560801" y="1955047"/>
                    </a:lnTo>
                    <a:lnTo>
                      <a:pt x="5250802" y="1645048"/>
                    </a:lnTo>
                    <a:lnTo>
                      <a:pt x="4940793" y="1955056"/>
                    </a:lnTo>
                    <a:lnTo>
                      <a:pt x="5250792" y="2265055"/>
                    </a:lnTo>
                    <a:lnTo>
                      <a:pt x="5027177" y="2488670"/>
                    </a:lnTo>
                    <a:lnTo>
                      <a:pt x="4683873" y="2488670"/>
                    </a:lnTo>
                    <a:lnTo>
                      <a:pt x="4454476" y="2259273"/>
                    </a:lnTo>
                    <a:lnTo>
                      <a:pt x="4225079" y="2488670"/>
                    </a:lnTo>
                    <a:lnTo>
                      <a:pt x="4063875" y="2488670"/>
                    </a:lnTo>
                    <a:lnTo>
                      <a:pt x="3834477" y="2259273"/>
                    </a:lnTo>
                    <a:lnTo>
                      <a:pt x="3524469" y="2569282"/>
                    </a:lnTo>
                    <a:lnTo>
                      <a:pt x="3623473" y="2668286"/>
                    </a:lnTo>
                    <a:lnTo>
                      <a:pt x="3623473" y="3090276"/>
                    </a:lnTo>
                    <a:lnTo>
                      <a:pt x="3524469" y="3189280"/>
                    </a:lnTo>
                    <a:lnTo>
                      <a:pt x="3623473" y="3288284"/>
                    </a:lnTo>
                    <a:lnTo>
                      <a:pt x="3623473" y="3418875"/>
                    </a:lnTo>
                    <a:lnTo>
                      <a:pt x="2127779" y="3418875"/>
                    </a:lnTo>
                    <a:lnTo>
                      <a:pt x="2127779" y="1473882"/>
                    </a:lnTo>
                    <a:lnTo>
                      <a:pt x="3401309" y="1473882"/>
                    </a:lnTo>
                    <a:lnTo>
                      <a:pt x="3401309" y="136786"/>
                    </a:lnTo>
                    <a:lnTo>
                      <a:pt x="1970495" y="136786"/>
                    </a:lnTo>
                    <a:lnTo>
                      <a:pt x="1970495" y="442936"/>
                    </a:lnTo>
                    <a:lnTo>
                      <a:pt x="0" y="442936"/>
                    </a:lnTo>
                    <a:close/>
                  </a:path>
                </a:pathLst>
              </a:custGeom>
            </p:spPr>
          </p:pic>
        </p:grpSp>
        <p:pic>
          <p:nvPicPr>
            <p:cNvPr id="5" name="Picture 4">
              <a:extLst>
                <a:ext uri="{FF2B5EF4-FFF2-40B4-BE49-F238E27FC236}">
                  <a16:creationId xmlns:a16="http://schemas.microsoft.com/office/drawing/2014/main" id="{77F67614-6A2D-0FED-B3FD-538E8D03B0F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rot="19020000">
              <a:off x="9187947" y="2697730"/>
              <a:ext cx="3723967" cy="4434256"/>
            </a:xfrm>
            <a:custGeom>
              <a:avLst/>
              <a:gdLst>
                <a:gd name="connsiteX0" fmla="*/ 4469342 w 4469342"/>
                <a:gd name="connsiteY0" fmla="*/ 0 h 5321800"/>
                <a:gd name="connsiteX1" fmla="*/ 4469342 w 4469342"/>
                <a:gd name="connsiteY1" fmla="*/ 5321800 h 5321800"/>
                <a:gd name="connsiteX2" fmla="*/ 1654442 w 4469342"/>
                <a:gd name="connsiteY2" fmla="*/ 5321800 h 5321800"/>
                <a:gd name="connsiteX3" fmla="*/ 0 w 4469342"/>
                <a:gd name="connsiteY3" fmla="*/ 3779008 h 5321800"/>
                <a:gd name="connsiteX4" fmla="*/ 0 w 4469342"/>
                <a:gd name="connsiteY4" fmla="*/ 0 h 532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342" h="5321800">
                  <a:moveTo>
                    <a:pt x="4469342" y="0"/>
                  </a:moveTo>
                  <a:lnTo>
                    <a:pt x="4469342" y="5321800"/>
                  </a:lnTo>
                  <a:lnTo>
                    <a:pt x="1654442" y="5321800"/>
                  </a:lnTo>
                  <a:lnTo>
                    <a:pt x="0" y="3779008"/>
                  </a:lnTo>
                  <a:lnTo>
                    <a:pt x="0" y="0"/>
                  </a:lnTo>
                  <a:close/>
                </a:path>
              </a:pathLst>
            </a:custGeom>
          </p:spPr>
        </p:pic>
      </p:grpSp>
      <p:sp>
        <p:nvSpPr>
          <p:cNvPr id="7" name="Slide Number Placeholder 1">
            <a:extLst>
              <a:ext uri="{FF2B5EF4-FFF2-40B4-BE49-F238E27FC236}">
                <a16:creationId xmlns:a16="http://schemas.microsoft.com/office/drawing/2014/main" id="{D26B1D93-C9E9-C03D-F419-E71CF7021093}"/>
              </a:ext>
            </a:extLst>
          </p:cNvPr>
          <p:cNvSpPr txBox="1">
            <a:spLocks/>
          </p:cNvSpPr>
          <p:nvPr/>
        </p:nvSpPr>
        <p:spPr>
          <a:xfrm>
            <a:off x="11738357" y="6540275"/>
            <a:ext cx="326126" cy="21508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976FAB8-503F-1449-B144-4863CF14683B}" type="slidenum">
              <a:rPr lang="en-US" sz="700" smtClean="0"/>
              <a:pPr algn="r"/>
              <a:t>8</a:t>
            </a:fld>
            <a:endParaRPr lang="en-US" sz="700" dirty="0"/>
          </a:p>
        </p:txBody>
      </p:sp>
      <p:sp>
        <p:nvSpPr>
          <p:cNvPr id="19" name="Title 4">
            <a:extLst>
              <a:ext uri="{FF2B5EF4-FFF2-40B4-BE49-F238E27FC236}">
                <a16:creationId xmlns:a16="http://schemas.microsoft.com/office/drawing/2014/main" id="{20CA01D5-0EB4-3A0E-B501-7A1BA1DFA9F6}"/>
              </a:ext>
            </a:extLst>
          </p:cNvPr>
          <p:cNvSpPr txBox="1">
            <a:spLocks/>
          </p:cNvSpPr>
          <p:nvPr/>
        </p:nvSpPr>
        <p:spPr>
          <a:xfrm>
            <a:off x="501223" y="1075266"/>
            <a:ext cx="6804451" cy="4493538"/>
          </a:xfrm>
          <a:prstGeom prst="rect">
            <a:avLst/>
          </a:prstGeom>
          <a:noFill/>
        </p:spPr>
        <p:txBody>
          <a:bodyPr wrap="square">
            <a:spAutoFit/>
          </a:bodyPr>
          <a:lstStyle>
            <a:defPPr>
              <a:defRPr lang="en-US"/>
            </a:defPPr>
            <a:lvl1pPr>
              <a:defRPr sz="1400" b="0"/>
            </a:lvl1pPr>
          </a:lstStyle>
          <a:p>
            <a:pPr marL="285750" indent="-285750">
              <a:buFont typeface="Arial" panose="020B0604020202020204" pitchFamily="34" charset="0"/>
              <a:buChar char="•"/>
            </a:pPr>
            <a:r>
              <a:rPr lang="en-GB" sz="1600" dirty="0">
                <a:solidFill>
                  <a:srgbClr val="0432FF"/>
                </a:solidFill>
                <a:latin typeface="IBM Plex Sans" panose="020B0503050203000203" pitchFamily="34" charset="0"/>
              </a:rPr>
              <a:t>60 min per quote</a:t>
            </a:r>
          </a:p>
          <a:p>
            <a:pPr marL="285750" indent="-285750">
              <a:buFont typeface="Arial" panose="020B0604020202020204" pitchFamily="34" charset="0"/>
              <a:buChar char="•"/>
            </a:pPr>
            <a:r>
              <a:rPr lang="en-GB" sz="1600" dirty="0">
                <a:solidFill>
                  <a:srgbClr val="0432FF"/>
                </a:solidFill>
                <a:latin typeface="IBM Plex Sans" panose="020B0503050203000203" pitchFamily="34" charset="0"/>
              </a:rPr>
              <a:t>3 quote per policy</a:t>
            </a:r>
          </a:p>
          <a:p>
            <a:pPr marL="285750" indent="-285750">
              <a:buFont typeface="Arial" panose="020B0604020202020204" pitchFamily="34" charset="0"/>
              <a:buChar char="•"/>
            </a:pPr>
            <a:r>
              <a:rPr lang="en-GB" sz="1600" dirty="0">
                <a:solidFill>
                  <a:srgbClr val="0432FF"/>
                </a:solidFill>
                <a:latin typeface="IBM Plex Sans" panose="020B0503050203000203" pitchFamily="34" charset="0"/>
              </a:rPr>
              <a:t>Globally 200,000 policies per annum</a:t>
            </a:r>
          </a:p>
          <a:p>
            <a:pPr marL="285750" indent="-285750">
              <a:buFont typeface="Arial" panose="020B0604020202020204" pitchFamily="34" charset="0"/>
              <a:buChar char="•"/>
            </a:pPr>
            <a:endParaRPr lang="en-GB" sz="1600" dirty="0">
              <a:solidFill>
                <a:srgbClr val="0432FF"/>
              </a:solidFill>
              <a:latin typeface="IBM Plex Sans" panose="020B0503050203000203" pitchFamily="34" charset="0"/>
            </a:endParaRPr>
          </a:p>
          <a:p>
            <a:r>
              <a:rPr lang="en-GB" sz="1600" dirty="0">
                <a:solidFill>
                  <a:srgbClr val="0432FF"/>
                </a:solidFill>
                <a:latin typeface="IBM Plex Sans" panose="020B0503050203000203" pitchFamily="34" charset="0"/>
              </a:rPr>
              <a:t>36 m  min/ annum spent in creating quotes/ risks</a:t>
            </a:r>
          </a:p>
          <a:p>
            <a:endParaRPr lang="en-GB" sz="1600" dirty="0">
              <a:solidFill>
                <a:srgbClr val="0432FF"/>
              </a:solidFill>
              <a:latin typeface="IBM Plex Sans" panose="020B0503050203000203" pitchFamily="34" charset="0"/>
            </a:endParaRPr>
          </a:p>
          <a:p>
            <a:r>
              <a:rPr lang="en-GB" sz="1600" i="1" dirty="0">
                <a:solidFill>
                  <a:srgbClr val="0432FF"/>
                </a:solidFill>
                <a:latin typeface="IBM Plex Sans" panose="020B0503050203000203" pitchFamily="34" charset="0"/>
              </a:rPr>
              <a:t>Assume 75% of this effort goes in reviews and referrals </a:t>
            </a:r>
          </a:p>
          <a:p>
            <a:endParaRPr lang="en-GB" sz="1600" dirty="0">
              <a:solidFill>
                <a:srgbClr val="0432FF"/>
              </a:solidFill>
              <a:latin typeface="IBM Plex Sans" panose="020B0503050203000203" pitchFamily="34" charset="0"/>
            </a:endParaRPr>
          </a:p>
          <a:p>
            <a:r>
              <a:rPr lang="en-GB" sz="1600" i="1" dirty="0">
                <a:solidFill>
                  <a:srgbClr val="0432FF"/>
                </a:solidFill>
                <a:latin typeface="IBM Plex Sans" panose="020B0503050203000203" pitchFamily="34" charset="0"/>
              </a:rPr>
              <a:t>Assume we automate 50 % of this effort</a:t>
            </a:r>
          </a:p>
          <a:p>
            <a:endParaRPr lang="en-GB" sz="1600" dirty="0">
              <a:solidFill>
                <a:srgbClr val="0432FF"/>
              </a:solidFill>
              <a:latin typeface="IBM Plex Sans" panose="020B0503050203000203" pitchFamily="34" charset="0"/>
            </a:endParaRPr>
          </a:p>
          <a:p>
            <a:r>
              <a:rPr lang="en-GB" sz="1600" u="sng" dirty="0">
                <a:solidFill>
                  <a:srgbClr val="0432FF"/>
                </a:solidFill>
                <a:latin typeface="IBM Plex Sans" panose="020B0503050203000203" pitchFamily="34" charset="0"/>
              </a:rPr>
              <a:t>Total effort saved = 50% of 75% of 6000 hours = 13.5 m min per annum</a:t>
            </a:r>
          </a:p>
          <a:p>
            <a:endParaRPr lang="en-GB" sz="1600" dirty="0">
              <a:solidFill>
                <a:srgbClr val="0432FF"/>
              </a:solidFill>
              <a:latin typeface="IBM Plex Sans" panose="020B0503050203000203" pitchFamily="34" charset="0"/>
            </a:endParaRPr>
          </a:p>
          <a:p>
            <a:r>
              <a:rPr lang="en-GB" sz="1600" i="1" dirty="0">
                <a:solidFill>
                  <a:srgbClr val="0432FF"/>
                </a:solidFill>
                <a:latin typeface="IBM Plex Sans" panose="020B0503050203000203" pitchFamily="34" charset="0"/>
              </a:rPr>
              <a:t>Assume Avg. underwriter salary $150,000 per annum</a:t>
            </a:r>
          </a:p>
          <a:p>
            <a:endParaRPr lang="en-GB" sz="1600" dirty="0">
              <a:solidFill>
                <a:srgbClr val="0432FF"/>
              </a:solidFill>
              <a:latin typeface="IBM Plex Sans" panose="020B0503050203000203" pitchFamily="34" charset="0"/>
            </a:endParaRPr>
          </a:p>
          <a:p>
            <a:r>
              <a:rPr lang="en-GB" sz="1600" u="sng" dirty="0">
                <a:solidFill>
                  <a:srgbClr val="0432FF"/>
                </a:solidFill>
                <a:latin typeface="IBM Plex Sans" panose="020B0503050203000203" pitchFamily="34" charset="0"/>
              </a:rPr>
              <a:t>Total $ saving = $18.45 m per annum</a:t>
            </a:r>
          </a:p>
          <a:p>
            <a:endParaRPr lang="en-GB" sz="1600" dirty="0">
              <a:solidFill>
                <a:srgbClr val="0432FF"/>
              </a:solidFill>
              <a:latin typeface="IBM Plex Sans" panose="020B0503050203000203" pitchFamily="34" charset="0"/>
            </a:endParaRPr>
          </a:p>
          <a:p>
            <a:endParaRPr lang="en-GB" sz="1600" dirty="0">
              <a:solidFill>
                <a:srgbClr val="0432FF"/>
              </a:solidFill>
              <a:latin typeface="IBM Plex Sans" panose="020B0503050203000203" pitchFamily="34" charset="0"/>
            </a:endParaRPr>
          </a:p>
          <a:p>
            <a:endParaRPr lang="en-GB" i="1" dirty="0">
              <a:latin typeface="IBM Plex Sans" panose="020B0503050203000203" pitchFamily="34" charset="0"/>
            </a:endParaRPr>
          </a:p>
        </p:txBody>
      </p:sp>
    </p:spTree>
    <p:extLst>
      <p:ext uri="{BB962C8B-B14F-4D97-AF65-F5344CB8AC3E}">
        <p14:creationId xmlns:p14="http://schemas.microsoft.com/office/powerpoint/2010/main" val="914388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21592</TotalTime>
  <Words>841</Words>
  <Application>Microsoft Office PowerPoint</Application>
  <PresentationFormat>Widescreen</PresentationFormat>
  <Paragraphs>152</Paragraphs>
  <Slides>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Calibri</vt:lpstr>
      <vt:lpstr>IBM Plex Sans</vt:lpstr>
      <vt:lpstr>IBM Plex Sans Light</vt:lpstr>
      <vt:lpstr>Office Theme</vt:lpstr>
      <vt:lpstr>PowerPoint Presentation</vt:lpstr>
      <vt:lpstr>PowerPoint Presentation</vt:lpstr>
      <vt:lpstr>An agentic solution to offer risk referral recommendations to underwriters, which is pre-trained on referral rules and guidelines applicable at both individual underwriters and company level.</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Marina Sruthi Maria Michael</dc:creator>
  <cp:lastModifiedBy>Gaurav Sharma</cp:lastModifiedBy>
  <cp:revision>145</cp:revision>
  <cp:lastPrinted>2024-04-23T18:00:57Z</cp:lastPrinted>
  <dcterms:created xsi:type="dcterms:W3CDTF">2024-04-09T10:01:44Z</dcterms:created>
  <dcterms:modified xsi:type="dcterms:W3CDTF">2025-04-30T16:42:35Z</dcterms:modified>
</cp:coreProperties>
</file>